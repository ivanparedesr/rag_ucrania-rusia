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2"/>
  </p:notesMasterIdLst>
  <p:handoutMasterIdLst>
    <p:handoutMasterId r:id="rId23"/>
  </p:handoutMasterIdLst>
  <p:sldIdLst>
    <p:sldId id="350" r:id="rId5"/>
    <p:sldId id="352" r:id="rId6"/>
    <p:sldId id="361" r:id="rId7"/>
    <p:sldId id="365" r:id="rId8"/>
    <p:sldId id="334" r:id="rId9"/>
    <p:sldId id="353" r:id="rId10"/>
    <p:sldId id="367" r:id="rId11"/>
    <p:sldId id="366" r:id="rId12"/>
    <p:sldId id="355" r:id="rId13"/>
    <p:sldId id="370" r:id="rId14"/>
    <p:sldId id="369" r:id="rId15"/>
    <p:sldId id="368" r:id="rId16"/>
    <p:sldId id="371" r:id="rId17"/>
    <p:sldId id="373" r:id="rId18"/>
    <p:sldId id="374" r:id="rId19"/>
    <p:sldId id="372" r:id="rId20"/>
    <p:sldId id="343" r:id="rId21"/>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76" d="100"/>
          <a:sy n="76" d="100"/>
        </p:scale>
        <p:origin x="144" y="5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Porcentaje de preguntas correctas</c:v>
                </c:pt>
              </c:strCache>
            </c:strRef>
          </c:tx>
          <c:spPr>
            <a:solidFill>
              <a:schemeClr val="accent1"/>
            </a:solidFill>
            <a:ln>
              <a:noFill/>
            </a:ln>
            <a:effectLst/>
          </c:spPr>
          <c:invertIfNegative val="0"/>
          <c:cat>
            <c:strRef>
              <c:f>Hoja1!$A$2:$A$11</c:f>
              <c:strCache>
                <c:ptCount val="10"/>
                <c:pt idx="0">
                  <c:v>1 artículo</c:v>
                </c:pt>
                <c:pt idx="1">
                  <c:v>2 artículo</c:v>
                </c:pt>
                <c:pt idx="2">
                  <c:v>3 artículo</c:v>
                </c:pt>
                <c:pt idx="3">
                  <c:v>4 artículo</c:v>
                </c:pt>
                <c:pt idx="4">
                  <c:v>5 artículo</c:v>
                </c:pt>
                <c:pt idx="5">
                  <c:v>6 artículo</c:v>
                </c:pt>
                <c:pt idx="6">
                  <c:v>7 artículo</c:v>
                </c:pt>
                <c:pt idx="7">
                  <c:v>8 artículo</c:v>
                </c:pt>
                <c:pt idx="8">
                  <c:v>9 artículo</c:v>
                </c:pt>
                <c:pt idx="9">
                  <c:v>10 artículo</c:v>
                </c:pt>
              </c:strCache>
            </c:strRef>
          </c:cat>
          <c:val>
            <c:numRef>
              <c:f>Hoja1!$B$2:$B$11</c:f>
              <c:numCache>
                <c:formatCode>General</c:formatCode>
                <c:ptCount val="10"/>
                <c:pt idx="0">
                  <c:v>0.5</c:v>
                </c:pt>
                <c:pt idx="1">
                  <c:v>0.5</c:v>
                </c:pt>
                <c:pt idx="2">
                  <c:v>0.6</c:v>
                </c:pt>
                <c:pt idx="3">
                  <c:v>0.7</c:v>
                </c:pt>
                <c:pt idx="4">
                  <c:v>0.7</c:v>
                </c:pt>
                <c:pt idx="5">
                  <c:v>0.7</c:v>
                </c:pt>
                <c:pt idx="6">
                  <c:v>0.8</c:v>
                </c:pt>
                <c:pt idx="7">
                  <c:v>0.8</c:v>
                </c:pt>
                <c:pt idx="8">
                  <c:v>0.8</c:v>
                </c:pt>
                <c:pt idx="9">
                  <c:v>0.9</c:v>
                </c:pt>
              </c:numCache>
            </c:numRef>
          </c:val>
          <c:extLst>
            <c:ext xmlns:c16="http://schemas.microsoft.com/office/drawing/2014/chart" uri="{C3380CC4-5D6E-409C-BE32-E72D297353CC}">
              <c16:uniqueId val="{00000000-56F7-499C-88E1-9403394ADF10}"/>
            </c:ext>
          </c:extLst>
        </c:ser>
        <c:ser>
          <c:idx val="1"/>
          <c:order val="1"/>
          <c:tx>
            <c:strRef>
              <c:f>Hoja1!$C$1</c:f>
              <c:strCache>
                <c:ptCount val="1"/>
                <c:pt idx="0">
                  <c:v>Porcentaje de preguntas incorrectas</c:v>
                </c:pt>
              </c:strCache>
            </c:strRef>
          </c:tx>
          <c:spPr>
            <a:solidFill>
              <a:schemeClr val="accent2"/>
            </a:solidFill>
            <a:ln>
              <a:noFill/>
            </a:ln>
            <a:effectLst/>
          </c:spPr>
          <c:invertIfNegative val="0"/>
          <c:cat>
            <c:strRef>
              <c:f>Hoja1!$A$2:$A$11</c:f>
              <c:strCache>
                <c:ptCount val="10"/>
                <c:pt idx="0">
                  <c:v>1 artículo</c:v>
                </c:pt>
                <c:pt idx="1">
                  <c:v>2 artículo</c:v>
                </c:pt>
                <c:pt idx="2">
                  <c:v>3 artículo</c:v>
                </c:pt>
                <c:pt idx="3">
                  <c:v>4 artículo</c:v>
                </c:pt>
                <c:pt idx="4">
                  <c:v>5 artículo</c:v>
                </c:pt>
                <c:pt idx="5">
                  <c:v>6 artículo</c:v>
                </c:pt>
                <c:pt idx="6">
                  <c:v>7 artículo</c:v>
                </c:pt>
                <c:pt idx="7">
                  <c:v>8 artículo</c:v>
                </c:pt>
                <c:pt idx="8">
                  <c:v>9 artículo</c:v>
                </c:pt>
                <c:pt idx="9">
                  <c:v>10 artículo</c:v>
                </c:pt>
              </c:strCache>
            </c:strRef>
          </c:cat>
          <c:val>
            <c:numRef>
              <c:f>Hoja1!$C$2:$C$11</c:f>
              <c:numCache>
                <c:formatCode>General</c:formatCode>
                <c:ptCount val="10"/>
                <c:pt idx="0">
                  <c:v>0.5</c:v>
                </c:pt>
                <c:pt idx="1">
                  <c:v>0.5</c:v>
                </c:pt>
                <c:pt idx="2">
                  <c:v>0.4</c:v>
                </c:pt>
                <c:pt idx="3">
                  <c:v>0.3</c:v>
                </c:pt>
                <c:pt idx="4">
                  <c:v>0.3</c:v>
                </c:pt>
                <c:pt idx="5">
                  <c:v>0.3</c:v>
                </c:pt>
                <c:pt idx="6">
                  <c:v>0.2</c:v>
                </c:pt>
                <c:pt idx="7">
                  <c:v>0.2</c:v>
                </c:pt>
                <c:pt idx="8">
                  <c:v>0.2</c:v>
                </c:pt>
                <c:pt idx="9">
                  <c:v>0.1</c:v>
                </c:pt>
              </c:numCache>
            </c:numRef>
          </c:val>
          <c:extLst>
            <c:ext xmlns:c16="http://schemas.microsoft.com/office/drawing/2014/chart" uri="{C3380CC4-5D6E-409C-BE32-E72D297353CC}">
              <c16:uniqueId val="{00000001-56F7-499C-88E1-9403394ADF10}"/>
            </c:ext>
          </c:extLst>
        </c:ser>
        <c:dLbls>
          <c:showLegendKey val="0"/>
          <c:showVal val="0"/>
          <c:showCatName val="0"/>
          <c:showSerName val="0"/>
          <c:showPercent val="0"/>
          <c:showBubbleSize val="0"/>
        </c:dLbls>
        <c:gapWidth val="219"/>
        <c:overlap val="-27"/>
        <c:axId val="2076276063"/>
        <c:axId val="2076277503"/>
      </c:barChart>
      <c:catAx>
        <c:axId val="2076276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s-MX"/>
          </a:p>
        </c:txPr>
        <c:crossAx val="2076277503"/>
        <c:crosses val="autoZero"/>
        <c:auto val="1"/>
        <c:lblAlgn val="ctr"/>
        <c:lblOffset val="100"/>
        <c:noMultiLvlLbl val="0"/>
      </c:catAx>
      <c:valAx>
        <c:axId val="2076277503"/>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s-MX"/>
          </a:p>
        </c:txPr>
        <c:crossAx val="20762760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Times New Roman" panose="02020603050405020304" pitchFamily="18" charset="0"/>
              <a:ea typeface="+mn-ea"/>
              <a:cs typeface="Times New Roman" panose="02020603050405020304" pitchFamily="18" charset="0"/>
            </a:defRPr>
          </a:pPr>
          <a:endParaRPr lang="es-MX"/>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1"/>
    </a:solidFill>
    <a:ln>
      <a:noFill/>
    </a:ln>
    <a:effectLst/>
  </c:spPr>
  <c:txPr>
    <a:bodyPr/>
    <a:lstStyle/>
    <a:p>
      <a:pPr>
        <a:defRPr sz="1200">
          <a:solidFill>
            <a:schemeClr val="bg1"/>
          </a:solidFill>
          <a:latin typeface="Times New Roman" panose="02020603050405020304" pitchFamily="18" charset="0"/>
          <a:cs typeface="Times New Roman" panose="02020603050405020304" pitchFamily="18" charset="0"/>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‹Nº›</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26/09/2024</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‹Nº›</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2</a:t>
            </a:fld>
            <a:endParaRPr lang="es-MX"/>
          </a:p>
        </p:txBody>
      </p:sp>
    </p:spTree>
    <p:extLst>
      <p:ext uri="{BB962C8B-B14F-4D97-AF65-F5344CB8AC3E}">
        <p14:creationId xmlns:p14="http://schemas.microsoft.com/office/powerpoint/2010/main" val="3500034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3</a:t>
            </a:fld>
            <a:endParaRPr lang="es-MX"/>
          </a:p>
        </p:txBody>
      </p:sp>
    </p:spTree>
    <p:extLst>
      <p:ext uri="{BB962C8B-B14F-4D97-AF65-F5344CB8AC3E}">
        <p14:creationId xmlns:p14="http://schemas.microsoft.com/office/powerpoint/2010/main" val="1394049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4</a:t>
            </a:fld>
            <a:endParaRPr lang="es-MX"/>
          </a:p>
        </p:txBody>
      </p:sp>
    </p:spTree>
    <p:extLst>
      <p:ext uri="{BB962C8B-B14F-4D97-AF65-F5344CB8AC3E}">
        <p14:creationId xmlns:p14="http://schemas.microsoft.com/office/powerpoint/2010/main" val="30306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MX"/>
          </a:p>
        </p:txBody>
      </p:sp>
      <p:sp>
        <p:nvSpPr>
          <p:cNvPr id="4" name="Marcador de posición de número de diapositiva 3"/>
          <p:cNvSpPr>
            <a:spLocks noGrp="1"/>
          </p:cNvSpPr>
          <p:nvPr>
            <p:ph type="sldNum" sz="quarter" idx="5"/>
          </p:nvPr>
        </p:nvSpPr>
        <p:spPr/>
        <p:txBody>
          <a:bodyPr rtlCol="0"/>
          <a:lstStyle/>
          <a:p>
            <a:pPr rtl="0"/>
            <a:fld id="{A89C7E07-3C67-C64C-8DA0-0404F6303970}" type="slidenum">
              <a:rPr lang="es-MX" smtClean="0"/>
              <a:t>5</a:t>
            </a:fld>
            <a:endParaRPr lang="es-MX"/>
          </a:p>
        </p:txBody>
      </p:sp>
    </p:spTree>
    <p:extLst>
      <p:ext uri="{BB962C8B-B14F-4D97-AF65-F5344CB8AC3E}">
        <p14:creationId xmlns:p14="http://schemas.microsoft.com/office/powerpoint/2010/main" val="4285802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6</a:t>
            </a:fld>
            <a:endParaRPr lang="es-MX"/>
          </a:p>
        </p:txBody>
      </p:sp>
    </p:spTree>
    <p:extLst>
      <p:ext uri="{BB962C8B-B14F-4D97-AF65-F5344CB8AC3E}">
        <p14:creationId xmlns:p14="http://schemas.microsoft.com/office/powerpoint/2010/main" val="2134986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7</a:t>
            </a:fld>
            <a:endParaRPr lang="es-MX"/>
          </a:p>
        </p:txBody>
      </p:sp>
    </p:spTree>
    <p:extLst>
      <p:ext uri="{BB962C8B-B14F-4D97-AF65-F5344CB8AC3E}">
        <p14:creationId xmlns:p14="http://schemas.microsoft.com/office/powerpoint/2010/main" val="921069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8</a:t>
            </a:fld>
            <a:endParaRPr lang="es-MX"/>
          </a:p>
        </p:txBody>
      </p:sp>
    </p:spTree>
    <p:extLst>
      <p:ext uri="{BB962C8B-B14F-4D97-AF65-F5344CB8AC3E}">
        <p14:creationId xmlns:p14="http://schemas.microsoft.com/office/powerpoint/2010/main" val="420451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9</a:t>
            </a:fld>
            <a:endParaRPr lang="es-MX"/>
          </a:p>
        </p:txBody>
      </p:sp>
    </p:spTree>
    <p:extLst>
      <p:ext uri="{BB962C8B-B14F-4D97-AF65-F5344CB8AC3E}">
        <p14:creationId xmlns:p14="http://schemas.microsoft.com/office/powerpoint/2010/main" val="1310617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MX"/>
          </a:p>
        </p:txBody>
      </p:sp>
      <p:sp>
        <p:nvSpPr>
          <p:cNvPr id="4" name="Marcador de posición de número de diapositiva 3"/>
          <p:cNvSpPr>
            <a:spLocks noGrp="1"/>
          </p:cNvSpPr>
          <p:nvPr>
            <p:ph type="sldNum" sz="quarter" idx="5"/>
          </p:nvPr>
        </p:nvSpPr>
        <p:spPr/>
        <p:txBody>
          <a:bodyPr rtlCol="0"/>
          <a:lstStyle/>
          <a:p>
            <a:pPr rtl="0"/>
            <a:fld id="{A89C7E07-3C67-C64C-8DA0-0404F6303970}" type="slidenum">
              <a:rPr lang="es-MX" smtClean="0"/>
              <a:t>10</a:t>
            </a:fld>
            <a:endParaRPr lang="es-MX"/>
          </a:p>
        </p:txBody>
      </p:sp>
    </p:spTree>
    <p:extLst>
      <p:ext uri="{BB962C8B-B14F-4D97-AF65-F5344CB8AC3E}">
        <p14:creationId xmlns:p14="http://schemas.microsoft.com/office/powerpoint/2010/main" val="2747628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11</a:t>
            </a:fld>
            <a:endParaRPr lang="es-MX"/>
          </a:p>
        </p:txBody>
      </p:sp>
    </p:spTree>
    <p:extLst>
      <p:ext uri="{BB962C8B-B14F-4D97-AF65-F5344CB8AC3E}">
        <p14:creationId xmlns:p14="http://schemas.microsoft.com/office/powerpoint/2010/main" val="2031476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12</a:t>
            </a:fld>
            <a:endParaRPr lang="es-MX"/>
          </a:p>
        </p:txBody>
      </p:sp>
    </p:spTree>
    <p:extLst>
      <p:ext uri="{BB962C8B-B14F-4D97-AF65-F5344CB8AC3E}">
        <p14:creationId xmlns:p14="http://schemas.microsoft.com/office/powerpoint/2010/main" val="3706936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13</a:t>
            </a:fld>
            <a:endParaRPr lang="es-MX"/>
          </a:p>
        </p:txBody>
      </p:sp>
    </p:spTree>
    <p:extLst>
      <p:ext uri="{BB962C8B-B14F-4D97-AF65-F5344CB8AC3E}">
        <p14:creationId xmlns:p14="http://schemas.microsoft.com/office/powerpoint/2010/main" val="2613621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14</a:t>
            </a:fld>
            <a:endParaRPr lang="es-MX"/>
          </a:p>
        </p:txBody>
      </p:sp>
    </p:spTree>
    <p:extLst>
      <p:ext uri="{BB962C8B-B14F-4D97-AF65-F5344CB8AC3E}">
        <p14:creationId xmlns:p14="http://schemas.microsoft.com/office/powerpoint/2010/main" val="2528322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15</a:t>
            </a:fld>
            <a:endParaRPr lang="es-MX"/>
          </a:p>
        </p:txBody>
      </p:sp>
    </p:spTree>
    <p:extLst>
      <p:ext uri="{BB962C8B-B14F-4D97-AF65-F5344CB8AC3E}">
        <p14:creationId xmlns:p14="http://schemas.microsoft.com/office/powerpoint/2010/main" val="3806448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16</a:t>
            </a:fld>
            <a:endParaRPr lang="es-MX"/>
          </a:p>
        </p:txBody>
      </p:sp>
    </p:spTree>
    <p:extLst>
      <p:ext uri="{BB962C8B-B14F-4D97-AF65-F5344CB8AC3E}">
        <p14:creationId xmlns:p14="http://schemas.microsoft.com/office/powerpoint/2010/main" val="543697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MX"/>
          </a:p>
        </p:txBody>
      </p:sp>
      <p:sp>
        <p:nvSpPr>
          <p:cNvPr id="4" name="Marcador de posición de número de diapositiva 3"/>
          <p:cNvSpPr>
            <a:spLocks noGrp="1"/>
          </p:cNvSpPr>
          <p:nvPr>
            <p:ph type="sldNum" sz="quarter" idx="5"/>
          </p:nvPr>
        </p:nvSpPr>
        <p:spPr/>
        <p:txBody>
          <a:bodyPr rtlCol="0"/>
          <a:lstStyle/>
          <a:p>
            <a:pPr rtl="0"/>
            <a:fld id="{A89C7E07-3C67-C64C-8DA0-0404F6303970}" type="slidenum">
              <a:rPr lang="es-MX" smtClean="0"/>
              <a:t>17</a:t>
            </a:fld>
            <a:endParaRPr lang="es-MX"/>
          </a:p>
        </p:txBody>
      </p:sp>
    </p:spTree>
    <p:extLst>
      <p:ext uri="{BB962C8B-B14F-4D97-AF65-F5344CB8AC3E}">
        <p14:creationId xmlns:p14="http://schemas.microsoft.com/office/powerpoint/2010/main" val="18238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2ABFB780-2149-4311-B62F-2A913C077482}" type="datetime4">
              <a:rPr lang="es-MX" noProof="0" smtClean="0">
                <a:latin typeface="+mn-lt"/>
              </a:rPr>
              <a:t>26 de septiembre de 2024</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F6D589A-42E2-4B36-8805-860D234AC495}" type="datetime4">
              <a:rPr lang="es-MX" noProof="0" smtClean="0">
                <a:latin typeface="+mn-lt"/>
              </a:rPr>
              <a:t>26 de septiembre de 2024</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endParaRPr lang="es-MX" noProof="0"/>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25F141E4-5E5F-4845-B8D7-3C55A2178325}" type="datetime4">
              <a:rPr lang="es-MX" noProof="0" smtClean="0">
                <a:latin typeface="+mn-lt"/>
              </a:rPr>
              <a:t>26 de septiembre de 2024</a:t>
            </a:fld>
            <a:endParaRPr lang="es-MX" noProof="0">
              <a:latin typeface="+mn-lt"/>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endParaRPr lang="es-MX" noProof="0"/>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FDA047C0-5304-48FD-8984-0F5342E36F55}" type="datetime4">
              <a:rPr lang="es-MX" noProof="0" smtClean="0">
                <a:latin typeface="+mn-lt"/>
              </a:rPr>
              <a:t>26 de septiembre de 2024</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5CB96D81-167A-44AE-9BCF-4ED494A4AE1F}" type="datetime4">
              <a:rPr lang="es-MX" noProof="0" smtClean="0">
                <a:latin typeface="+mn-lt"/>
              </a:rPr>
              <a:t>26 de septiembre de 2024</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4163F4A3-5F37-4E44-BE8C-91B4ACFEB9BF}" type="datetime4">
              <a:rPr lang="es-MX" noProof="0" smtClean="0">
                <a:latin typeface="+mn-lt"/>
              </a:rPr>
              <a:t>26 de septiembre de 2024</a:t>
            </a:fld>
            <a:endParaRPr lang="es-MX" noProof="0">
              <a:latin typeface="+mn-lt"/>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4664765F-4FB6-4202-9E9D-A26625E8FAC7}" type="datetime4">
              <a:rPr lang="es-MX" noProof="0" smtClean="0">
                <a:latin typeface="+mn-lt"/>
              </a:rPr>
              <a:t>26 de septiembre de 2024</a:t>
            </a:fld>
            <a:endParaRPr lang="es-MX" noProof="0" dirty="0">
              <a:latin typeface="+mn-lt"/>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3D65D2FC-45E3-4BA1-BDB6-9771E5975F8F}" type="datetime4">
              <a:rPr lang="es-MX" noProof="0" smtClean="0">
                <a:latin typeface="+mn-lt"/>
              </a:rPr>
              <a:t>26 de septiembre de 2024</a:t>
            </a:fld>
            <a:endParaRPr lang="es-MX" noProof="0" dirty="0">
              <a:latin typeface="+mn-lt"/>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670FCA8F-4735-4515-B1D3-DF89D087BBD3}" type="datetime4">
              <a:rPr lang="es-MX" noProof="0" smtClean="0">
                <a:latin typeface="+mn-lt"/>
              </a:rPr>
              <a:t>26 de septiembre de 2024</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s-MX" noProof="0" dirty="0"/>
              <a:t>Revisión anual</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a:t>Haz clic para modificar el estilo de título del patrón</a:t>
            </a:r>
          </a:p>
        </p:txBody>
      </p:sp>
      <p:sp>
        <p:nvSpPr>
          <p:cNvPr id="30" name="Marcador de posición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52FE442-AC1F-4EAB-8C6F-3115E7871F11}" type="datetime4">
              <a:rPr lang="es-MX" noProof="0" smtClean="0">
                <a:latin typeface="+mn-lt"/>
              </a:rPr>
              <a:t>26 de septiembre de 2024</a:t>
            </a:fld>
            <a:endParaRPr lang="es-MX" noProof="0">
              <a:latin typeface="+mn-lt"/>
            </a:endParaRP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Revisión anual</a:t>
            </a:r>
            <a:endParaRPr lang="es-MX" b="0" noProof="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IvanParedesR"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5.jpeg"/><Relationship Id="rId5" Type="http://schemas.openxmlformats.org/officeDocument/2006/relationships/hyperlink" Target="https://x.com/Ivan_presendiz" TargetMode="External"/><Relationship Id="rId4" Type="http://schemas.openxmlformats.org/officeDocument/2006/relationships/hyperlink" Target="https://www.linkedin.com/in/ivanparedesr8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rtl="0"/>
            <a:r>
              <a:rPr lang="es-MX" dirty="0"/>
              <a:t>Uso de AI en el análisis de información</a:t>
            </a:r>
          </a:p>
        </p:txBody>
      </p:sp>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s-MX" dirty="0" err="1">
                <a:latin typeface="+mj-lt"/>
              </a:rPr>
              <a:t>Colmeme</a:t>
            </a:r>
            <a:r>
              <a:rPr lang="es-MX" dirty="0">
                <a:latin typeface="+mj-lt"/>
              </a:rPr>
              <a:t> XXXII</a:t>
            </a:r>
          </a:p>
          <a:p>
            <a:pPr rtl="0"/>
            <a:r>
              <a:rPr lang="es-MX" dirty="0">
                <a:latin typeface="+mj-lt"/>
              </a:rPr>
              <a:t>UV</a:t>
            </a:r>
            <a:endParaRPr lang="es-MX" dirty="0"/>
          </a:p>
          <a:p>
            <a:pPr rtl="0"/>
            <a:endParaRPr lang="es-MX" dirty="0"/>
          </a:p>
        </p:txBody>
      </p:sp>
      <p:pic>
        <p:nvPicPr>
          <p:cNvPr id="7" name="Imagen 6">
            <a:extLst>
              <a:ext uri="{FF2B5EF4-FFF2-40B4-BE49-F238E27FC236}">
                <a16:creationId xmlns:a16="http://schemas.microsoft.com/office/drawing/2014/main" id="{FA2C3A9B-50A7-591A-087B-444405BDAD72}"/>
              </a:ext>
            </a:extLst>
          </p:cNvPr>
          <p:cNvPicPr>
            <a:picLocks noChangeAspect="1"/>
          </p:cNvPicPr>
          <p:nvPr/>
        </p:nvPicPr>
        <p:blipFill rotWithShape="1">
          <a:blip r:embed="rId3"/>
          <a:srcRect l="28104" t="23536" r="5632" b="41897"/>
          <a:stretch/>
        </p:blipFill>
        <p:spPr>
          <a:xfrm>
            <a:off x="3235569" y="4372450"/>
            <a:ext cx="8078875" cy="2260880"/>
          </a:xfrm>
          <a:prstGeom prst="rect">
            <a:avLst/>
          </a:prstGeom>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4941477" cy="610863"/>
          </a:xfrm>
        </p:spPr>
        <p:txBody>
          <a:bodyPr rtlCol="0"/>
          <a:lstStyle/>
          <a:p>
            <a:pPr rtl="0"/>
            <a:r>
              <a:rPr lang="es-MX" dirty="0"/>
              <a:t>Agenda</a:t>
            </a:r>
          </a:p>
        </p:txBody>
      </p:sp>
      <p:sp>
        <p:nvSpPr>
          <p:cNvPr id="4" name="Marcador de posición de texto 3">
            <a:extLst>
              <a:ext uri="{FF2B5EF4-FFF2-40B4-BE49-F238E27FC236}">
                <a16:creationId xmlns:a16="http://schemas.microsoft.com/office/drawing/2014/main" id="{C7EC6698-132B-1143-A2A9-00A97D9572D8}"/>
              </a:ext>
            </a:extLst>
          </p:cNvPr>
          <p:cNvSpPr>
            <a:spLocks noGrp="1"/>
          </p:cNvSpPr>
          <p:nvPr>
            <p:ph type="body" sz="quarter" idx="14"/>
          </p:nvPr>
        </p:nvSpPr>
        <p:spPr>
          <a:xfrm>
            <a:off x="952500" y="2209800"/>
            <a:ext cx="2133600" cy="356558"/>
          </a:xfrm>
        </p:spPr>
        <p:txBody>
          <a:bodyPr rtlCol="0"/>
          <a:lstStyle/>
          <a:p>
            <a:pPr rtl="0"/>
            <a:r>
              <a:rPr lang="es-MX" dirty="0"/>
              <a:t>01. AI y sus dilemas</a:t>
            </a:r>
          </a:p>
        </p:txBody>
      </p:sp>
      <p:sp>
        <p:nvSpPr>
          <p:cNvPr id="3" name="Marcador de posición de texto 2">
            <a:extLst>
              <a:ext uri="{FF2B5EF4-FFF2-40B4-BE49-F238E27FC236}">
                <a16:creationId xmlns:a16="http://schemas.microsoft.com/office/drawing/2014/main" id="{91AA5D8C-0134-F046-A548-3465F817747C}"/>
              </a:ext>
            </a:extLst>
          </p:cNvPr>
          <p:cNvSpPr>
            <a:spLocks noGrp="1"/>
          </p:cNvSpPr>
          <p:nvPr>
            <p:ph type="body" sz="quarter" idx="13"/>
          </p:nvPr>
        </p:nvSpPr>
        <p:spPr>
          <a:xfrm>
            <a:off x="952500" y="2818296"/>
            <a:ext cx="2133600" cy="778796"/>
          </a:xfrm>
        </p:spPr>
        <p:txBody>
          <a:bodyPr rtlCol="0"/>
          <a:lstStyle/>
          <a:p>
            <a:pPr rtl="0"/>
            <a:r>
              <a:rPr lang="es-MX" dirty="0"/>
              <a:t>¿Necesitamos un </a:t>
            </a:r>
            <a:r>
              <a:rPr lang="es-MX" dirty="0" err="1"/>
              <a:t>Jonh</a:t>
            </a:r>
            <a:r>
              <a:rPr lang="es-MX" dirty="0"/>
              <a:t> Connor?</a:t>
            </a:r>
          </a:p>
        </p:txBody>
      </p:sp>
      <p:sp>
        <p:nvSpPr>
          <p:cNvPr id="6" name="Marcador de posición de texto 5">
            <a:extLst>
              <a:ext uri="{FF2B5EF4-FFF2-40B4-BE49-F238E27FC236}">
                <a16:creationId xmlns:a16="http://schemas.microsoft.com/office/drawing/2014/main" id="{C0015C52-08ED-464E-B7E8-24892D9C1319}"/>
              </a:ext>
            </a:extLst>
          </p:cNvPr>
          <p:cNvSpPr>
            <a:spLocks noGrp="1"/>
          </p:cNvSpPr>
          <p:nvPr>
            <p:ph type="body" sz="quarter" idx="16"/>
          </p:nvPr>
        </p:nvSpPr>
        <p:spPr>
          <a:xfrm>
            <a:off x="3663042" y="2209800"/>
            <a:ext cx="2128157" cy="608495"/>
          </a:xfrm>
        </p:spPr>
        <p:txBody>
          <a:bodyPr rtlCol="0"/>
          <a:lstStyle/>
          <a:p>
            <a:pPr rtl="0"/>
            <a:r>
              <a:rPr lang="es-MX" dirty="0"/>
              <a:t>02. ¿AI = LLM?</a:t>
            </a:r>
          </a:p>
        </p:txBody>
      </p:sp>
      <p:sp>
        <p:nvSpPr>
          <p:cNvPr id="5" name="Marcador de posición de texto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5"/>
            <a:ext cx="2128157" cy="778795"/>
          </a:xfrm>
        </p:spPr>
        <p:txBody>
          <a:bodyPr rtlCol="0"/>
          <a:lstStyle/>
          <a:p>
            <a:pPr rtl="0"/>
            <a:r>
              <a:rPr lang="es-MX" dirty="0"/>
              <a:t>¿Qué opinaría Ray </a:t>
            </a:r>
            <a:r>
              <a:rPr lang="es-MX" dirty="0" err="1"/>
              <a:t>Kurzweil</a:t>
            </a:r>
            <a:r>
              <a:rPr lang="es-MX" dirty="0"/>
              <a:t>?.</a:t>
            </a:r>
          </a:p>
        </p:txBody>
      </p:sp>
      <p:sp>
        <p:nvSpPr>
          <p:cNvPr id="8" name="Marcador de posición de texto 7">
            <a:extLst>
              <a:ext uri="{FF2B5EF4-FFF2-40B4-BE49-F238E27FC236}">
                <a16:creationId xmlns:a16="http://schemas.microsoft.com/office/drawing/2014/main" id="{B32B0C1D-C221-7C47-B7D6-77E7BDB41749}"/>
              </a:ext>
            </a:extLst>
          </p:cNvPr>
          <p:cNvSpPr>
            <a:spLocks noGrp="1"/>
          </p:cNvSpPr>
          <p:nvPr>
            <p:ph type="body" sz="quarter" idx="20"/>
          </p:nvPr>
        </p:nvSpPr>
        <p:spPr>
          <a:xfrm>
            <a:off x="952500" y="4522803"/>
            <a:ext cx="2133600" cy="356558"/>
          </a:xfrm>
        </p:spPr>
        <p:txBody>
          <a:bodyPr rtlCol="0"/>
          <a:lstStyle/>
          <a:p>
            <a:pPr rtl="0"/>
            <a:r>
              <a:rPr lang="es-MX" dirty="0"/>
              <a:t>03. Funcionamiento </a:t>
            </a:r>
            <a:r>
              <a:rPr lang="es-MX" dirty="0" err="1"/>
              <a:t>LLMs</a:t>
            </a:r>
            <a:endParaRPr lang="es-MX" dirty="0"/>
          </a:p>
        </p:txBody>
      </p:sp>
      <p:sp>
        <p:nvSpPr>
          <p:cNvPr id="7" name="Marcador de posición de texto 6">
            <a:extLst>
              <a:ext uri="{FF2B5EF4-FFF2-40B4-BE49-F238E27FC236}">
                <a16:creationId xmlns:a16="http://schemas.microsoft.com/office/drawing/2014/main" id="{3E1C152D-1AA6-9242-B5C9-B06EEE4F9661}"/>
              </a:ext>
            </a:extLst>
          </p:cNvPr>
          <p:cNvSpPr>
            <a:spLocks noGrp="1"/>
          </p:cNvSpPr>
          <p:nvPr>
            <p:ph type="body" sz="quarter" idx="19"/>
          </p:nvPr>
        </p:nvSpPr>
        <p:spPr>
          <a:xfrm>
            <a:off x="952500" y="5131298"/>
            <a:ext cx="2133600" cy="770039"/>
          </a:xfrm>
        </p:spPr>
        <p:txBody>
          <a:bodyPr rtlCol="0"/>
          <a:lstStyle/>
          <a:p>
            <a:pPr rtl="0"/>
            <a:r>
              <a:rPr lang="es-MX" dirty="0"/>
              <a:t>Preparar texto y preparar funciones</a:t>
            </a:r>
          </a:p>
        </p:txBody>
      </p:sp>
      <p:sp>
        <p:nvSpPr>
          <p:cNvPr id="10" name="Marcador de posición de texto 9">
            <a:extLst>
              <a:ext uri="{FF2B5EF4-FFF2-40B4-BE49-F238E27FC236}">
                <a16:creationId xmlns:a16="http://schemas.microsoft.com/office/drawing/2014/main" id="{69BD3932-D1D0-1045-BD96-8B26F11B8515}"/>
              </a:ext>
            </a:extLst>
          </p:cNvPr>
          <p:cNvSpPr>
            <a:spLocks noGrp="1"/>
          </p:cNvSpPr>
          <p:nvPr>
            <p:ph type="body" sz="quarter" idx="22"/>
          </p:nvPr>
        </p:nvSpPr>
        <p:spPr>
          <a:xfrm>
            <a:off x="3663042" y="4522803"/>
            <a:ext cx="2128157" cy="356558"/>
          </a:xfrm>
        </p:spPr>
        <p:txBody>
          <a:bodyPr rtlCol="0"/>
          <a:lstStyle/>
          <a:p>
            <a:pPr rtl="0"/>
            <a:r>
              <a:rPr lang="es-MX" dirty="0"/>
              <a:t>04. Ucrania-Rusia</a:t>
            </a:r>
          </a:p>
        </p:txBody>
      </p:sp>
      <p:sp>
        <p:nvSpPr>
          <p:cNvPr id="9" name="Marcador de posición de texto 8">
            <a:extLst>
              <a:ext uri="{FF2B5EF4-FFF2-40B4-BE49-F238E27FC236}">
                <a16:creationId xmlns:a16="http://schemas.microsoft.com/office/drawing/2014/main" id="{38FB4732-AB07-C54D-AF44-F8ADB6D2B8B6}"/>
              </a:ext>
            </a:extLst>
          </p:cNvPr>
          <p:cNvSpPr>
            <a:spLocks noGrp="1"/>
          </p:cNvSpPr>
          <p:nvPr>
            <p:ph type="body" sz="quarter" idx="21"/>
          </p:nvPr>
        </p:nvSpPr>
        <p:spPr>
          <a:xfrm>
            <a:off x="3663042" y="5131298"/>
            <a:ext cx="2128157" cy="770039"/>
          </a:xfrm>
        </p:spPr>
        <p:txBody>
          <a:bodyPr rtlCol="0"/>
          <a:lstStyle/>
          <a:p>
            <a:pPr rtl="0"/>
            <a:r>
              <a:rPr lang="es-MX" dirty="0"/>
              <a:t>Las rutas de comercio sí se vieron afectadas</a:t>
            </a:r>
          </a:p>
        </p:txBody>
      </p:sp>
      <p:sp>
        <p:nvSpPr>
          <p:cNvPr id="12" name="Marcador de posición de texto 11">
            <a:extLst>
              <a:ext uri="{FF2B5EF4-FFF2-40B4-BE49-F238E27FC236}">
                <a16:creationId xmlns:a16="http://schemas.microsoft.com/office/drawing/2014/main" id="{B115086E-2AC3-4F4D-8F85-104CFA64FECF}"/>
              </a:ext>
            </a:extLst>
          </p:cNvPr>
          <p:cNvSpPr>
            <a:spLocks noGrp="1"/>
          </p:cNvSpPr>
          <p:nvPr>
            <p:ph type="body" sz="quarter" idx="24"/>
          </p:nvPr>
        </p:nvSpPr>
        <p:spPr>
          <a:xfrm>
            <a:off x="6367054" y="4522803"/>
            <a:ext cx="2129245" cy="356558"/>
          </a:xfrm>
        </p:spPr>
        <p:txBody>
          <a:bodyPr rtlCol="0"/>
          <a:lstStyle/>
          <a:p>
            <a:pPr rtl="0"/>
            <a:r>
              <a:rPr lang="es-MX" dirty="0"/>
              <a:t>05. Conclusiones</a:t>
            </a:r>
          </a:p>
        </p:txBody>
      </p:sp>
      <p:sp>
        <p:nvSpPr>
          <p:cNvPr id="11" name="Marcador de posición de texto 10">
            <a:extLst>
              <a:ext uri="{FF2B5EF4-FFF2-40B4-BE49-F238E27FC236}">
                <a16:creationId xmlns:a16="http://schemas.microsoft.com/office/drawing/2014/main" id="{7F247A08-A350-EF44-9F10-FC72B5466602}"/>
              </a:ext>
            </a:extLst>
          </p:cNvPr>
          <p:cNvSpPr>
            <a:spLocks noGrp="1"/>
          </p:cNvSpPr>
          <p:nvPr>
            <p:ph type="body" sz="quarter" idx="23"/>
          </p:nvPr>
        </p:nvSpPr>
        <p:spPr>
          <a:xfrm>
            <a:off x="6367054" y="5131298"/>
            <a:ext cx="2129245" cy="770039"/>
          </a:xfrm>
        </p:spPr>
        <p:txBody>
          <a:bodyPr rtlCol="0"/>
          <a:lstStyle/>
          <a:p>
            <a:pPr rtl="0"/>
            <a:r>
              <a:rPr lang="es-MX" dirty="0"/>
              <a:t>Mejoras marginales pero constantes</a:t>
            </a:r>
          </a:p>
        </p:txBody>
      </p:sp>
      <p:sp>
        <p:nvSpPr>
          <p:cNvPr id="15" name="Marcador de posición de número de diapositiva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es-MX" smtClean="0"/>
              <a:pPr/>
              <a:t>2</a:t>
            </a:fld>
            <a:endParaRPr lang="es-MX"/>
          </a:p>
        </p:txBody>
      </p:sp>
      <p:sp>
        <p:nvSpPr>
          <p:cNvPr id="14" name="Marcador de posición de pie de página 13">
            <a:extLst>
              <a:ext uri="{FF2B5EF4-FFF2-40B4-BE49-F238E27FC236}">
                <a16:creationId xmlns:a16="http://schemas.microsoft.com/office/drawing/2014/main" id="{C0BAE34D-BF83-084B-A10C-EB85694B9ACF}"/>
              </a:ext>
            </a:extLst>
          </p:cNvPr>
          <p:cNvSpPr>
            <a:spLocks noGrp="1"/>
          </p:cNvSpPr>
          <p:nvPr>
            <p:ph type="ftr" sz="quarter" idx="26"/>
          </p:nvPr>
        </p:nvSpPr>
        <p:spPr>
          <a:xfrm>
            <a:off x="1494790" y="6332220"/>
            <a:ext cx="1497330" cy="247651"/>
          </a:xfrm>
        </p:spPr>
        <p:txBody>
          <a:bodyPr rtlCol="0"/>
          <a:lstStyle/>
          <a:p>
            <a:pPr rtl="0"/>
            <a:r>
              <a:rPr lang="es-MX"/>
              <a:t>Revisión anual</a:t>
            </a:r>
          </a:p>
        </p:txBody>
      </p:sp>
      <p:sp>
        <p:nvSpPr>
          <p:cNvPr id="13" name="Marcador de posición de fecha 12">
            <a:extLst>
              <a:ext uri="{FF2B5EF4-FFF2-40B4-BE49-F238E27FC236}">
                <a16:creationId xmlns:a16="http://schemas.microsoft.com/office/drawing/2014/main" id="{2D9626DF-C81E-004B-9A70-7EF103792475}"/>
              </a:ext>
            </a:extLst>
          </p:cNvPr>
          <p:cNvSpPr>
            <a:spLocks noGrp="1"/>
          </p:cNvSpPr>
          <p:nvPr>
            <p:ph type="dt" sz="half" idx="25"/>
          </p:nvPr>
        </p:nvSpPr>
        <p:spPr>
          <a:xfrm>
            <a:off x="2992120" y="6332220"/>
            <a:ext cx="1777588" cy="247651"/>
          </a:xfrm>
        </p:spPr>
        <p:txBody>
          <a:bodyPr rtlCol="0"/>
          <a:lstStyle/>
          <a:p>
            <a:pPr rtl="0"/>
            <a:fld id="{BA9CC971-E3BD-4A42-8AAD-8380557AEF9F}" type="datetime4">
              <a:rPr lang="es-MX" smtClean="0"/>
              <a:t>26 de septiembre de 2024</a:t>
            </a:fld>
            <a:endParaRPr lang="es-MX"/>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es-MX" dirty="0"/>
              <a:t>Dilemas</a:t>
            </a:r>
          </a:p>
        </p:txBody>
      </p:sp>
      <p:sp>
        <p:nvSpPr>
          <p:cNvPr id="4" name="Marcador de posición de texto 3">
            <a:extLst>
              <a:ext uri="{FF2B5EF4-FFF2-40B4-BE49-F238E27FC236}">
                <a16:creationId xmlns:a16="http://schemas.microsoft.com/office/drawing/2014/main" id="{A17F80A9-6337-524E-AC61-32C5AFEE8E6D}"/>
              </a:ext>
            </a:extLst>
          </p:cNvPr>
          <p:cNvSpPr>
            <a:spLocks noGrp="1"/>
          </p:cNvSpPr>
          <p:nvPr>
            <p:ph type="body" sz="quarter" idx="11"/>
          </p:nvPr>
        </p:nvSpPr>
        <p:spPr>
          <a:xfrm>
            <a:off x="952499" y="2289363"/>
            <a:ext cx="4765013" cy="2795232"/>
          </a:xfrm>
        </p:spPr>
        <p:txBody>
          <a:bodyPr rtlCol="0"/>
          <a:lstStyle/>
          <a:p>
            <a:pPr rtl="0"/>
            <a:r>
              <a:rPr lang="es-MX" dirty="0"/>
              <a:t>¿Rebelión de las maquinas?</a:t>
            </a:r>
          </a:p>
          <a:p>
            <a:pPr rtl="0"/>
            <a:r>
              <a:rPr lang="es-MX" dirty="0"/>
              <a:t>¿Desempleo masivo?</a:t>
            </a:r>
          </a:p>
          <a:p>
            <a:pPr rtl="0"/>
            <a:r>
              <a:rPr lang="es-MX" dirty="0"/>
              <a:t>¿Desaparición de profesiones?</a:t>
            </a:r>
          </a:p>
          <a:p>
            <a:pPr rtl="0"/>
            <a:r>
              <a:rPr lang="es-MX" dirty="0"/>
              <a:t>¿Estudiantes que copian de </a:t>
            </a:r>
            <a:r>
              <a:rPr lang="es-MX" dirty="0" err="1"/>
              <a:t>Chatgpt</a:t>
            </a:r>
            <a:r>
              <a:rPr lang="es-MX" dirty="0"/>
              <a:t>?</a:t>
            </a:r>
          </a:p>
          <a:p>
            <a:pPr rtl="0"/>
            <a:r>
              <a:rPr lang="es-MX" dirty="0"/>
              <a:t>¿Monopolio en AI?</a:t>
            </a:r>
          </a:p>
          <a:p>
            <a:pPr rtl="0"/>
            <a:endParaRPr lang="es-MX" dirty="0"/>
          </a:p>
          <a:p>
            <a:pPr rtl="0"/>
            <a:r>
              <a:rPr lang="es-MX" dirty="0"/>
              <a:t>Incremento de productividad y sistemas descentralizados</a:t>
            </a:r>
          </a:p>
          <a:p>
            <a:pPr rtl="0"/>
            <a:endParaRPr lang="es-MX" dirty="0"/>
          </a:p>
          <a:p>
            <a:pPr rtl="0"/>
            <a:endParaRPr lang="es-MX" dirty="0"/>
          </a:p>
          <a:p>
            <a:pPr rtl="0"/>
            <a:endParaRPr lang="es-MX" dirty="0"/>
          </a:p>
        </p:txBody>
      </p:sp>
      <p:sp>
        <p:nvSpPr>
          <p:cNvPr id="7" name="Marcador de posición de número de diapositiva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a:t>3</a:t>
            </a:fld>
            <a:endParaRPr lang="es-MX"/>
          </a:p>
        </p:txBody>
      </p:sp>
      <p:sp>
        <p:nvSpPr>
          <p:cNvPr id="6" name="Marcador de posición de pie de página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es-MX" dirty="0"/>
              <a:t>Revisión anual</a:t>
            </a:r>
          </a:p>
        </p:txBody>
      </p:sp>
      <p:sp>
        <p:nvSpPr>
          <p:cNvPr id="5" name="Marcador de fecha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769350" cy="247651"/>
          </a:xfrm>
        </p:spPr>
        <p:txBody>
          <a:bodyPr rtlCol="0"/>
          <a:lstStyle/>
          <a:p>
            <a:pPr rtl="0"/>
            <a:fld id="{9456EE63-1EEE-4597-ABCE-70474E8B3A13}" type="datetime4">
              <a:rPr lang="es-MX" smtClean="0"/>
              <a:t>26 de septiembre de 2024</a:t>
            </a:fld>
            <a:endParaRPr lang="es-MX"/>
          </a:p>
        </p:txBody>
      </p:sp>
      <p:pic>
        <p:nvPicPr>
          <p:cNvPr id="2052" name="Picture 4" descr="TERMINATOR | Hoy cumple hoy 39 años: ¿acabará siendo profética?">
            <a:extLst>
              <a:ext uri="{FF2B5EF4-FFF2-40B4-BE49-F238E27FC236}">
                <a16:creationId xmlns:a16="http://schemas.microsoft.com/office/drawing/2014/main" id="{5935531D-8F27-66E9-8710-1E068C8E135B}"/>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25161" r="2516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pPr rtl="0"/>
            <a:r>
              <a:rPr lang="es-MX" dirty="0"/>
              <a:t>Temas técnicos</a:t>
            </a:r>
          </a:p>
        </p:txBody>
      </p:sp>
      <p:sp>
        <p:nvSpPr>
          <p:cNvPr id="4" name="Marcador de posición de texto 3">
            <a:extLst>
              <a:ext uri="{FF2B5EF4-FFF2-40B4-BE49-F238E27FC236}">
                <a16:creationId xmlns:a16="http://schemas.microsoft.com/office/drawing/2014/main" id="{A17F80A9-6337-524E-AC61-32C5AFEE8E6D}"/>
              </a:ext>
            </a:extLst>
          </p:cNvPr>
          <p:cNvSpPr>
            <a:spLocks noGrp="1"/>
          </p:cNvSpPr>
          <p:nvPr>
            <p:ph type="body" sz="quarter" idx="11"/>
          </p:nvPr>
        </p:nvSpPr>
        <p:spPr>
          <a:xfrm>
            <a:off x="964023" y="2158735"/>
            <a:ext cx="4765013" cy="2795232"/>
          </a:xfrm>
        </p:spPr>
        <p:txBody>
          <a:bodyPr rtlCol="0"/>
          <a:lstStyle/>
          <a:p>
            <a:pPr rtl="0"/>
            <a:r>
              <a:rPr lang="es-MX" sz="2400" dirty="0" err="1"/>
              <a:t>Github</a:t>
            </a:r>
            <a:endParaRPr lang="es-MX" sz="2400" dirty="0"/>
          </a:p>
          <a:p>
            <a:pPr rtl="0"/>
            <a:r>
              <a:rPr lang="es-MX" sz="2400" dirty="0"/>
              <a:t>Python</a:t>
            </a:r>
          </a:p>
          <a:p>
            <a:pPr rtl="0"/>
            <a:r>
              <a:rPr lang="es-MX" sz="2400" dirty="0" err="1"/>
              <a:t>Jupyther</a:t>
            </a:r>
            <a:endParaRPr lang="es-MX" sz="2400" dirty="0"/>
          </a:p>
          <a:p>
            <a:pPr rtl="0"/>
            <a:r>
              <a:rPr lang="es-MX" sz="2400" dirty="0" err="1"/>
              <a:t>Colab</a:t>
            </a:r>
            <a:endParaRPr lang="es-MX" sz="2400" dirty="0"/>
          </a:p>
          <a:p>
            <a:pPr rtl="0"/>
            <a:endParaRPr lang="es-MX" sz="2400" dirty="0"/>
          </a:p>
          <a:p>
            <a:pPr rtl="0"/>
            <a:endParaRPr lang="es-MX" sz="2400" dirty="0"/>
          </a:p>
          <a:p>
            <a:pPr rtl="0"/>
            <a:endParaRPr lang="es-MX" sz="2400" dirty="0"/>
          </a:p>
        </p:txBody>
      </p:sp>
      <p:sp>
        <p:nvSpPr>
          <p:cNvPr id="7" name="Marcador de posición de número de diapositiva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4</a:t>
            </a:fld>
            <a:endParaRPr lang="es-MX"/>
          </a:p>
        </p:txBody>
      </p:sp>
      <p:sp>
        <p:nvSpPr>
          <p:cNvPr id="6" name="Marcador de posición de pie de página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pPr rtl="0"/>
            <a:r>
              <a:rPr lang="es-MX" dirty="0"/>
              <a:t>Revisión anual</a:t>
            </a:r>
          </a:p>
        </p:txBody>
      </p:sp>
      <p:sp>
        <p:nvSpPr>
          <p:cNvPr id="5" name="Marcador de fecha 4">
            <a:extLst>
              <a:ext uri="{FF2B5EF4-FFF2-40B4-BE49-F238E27FC236}">
                <a16:creationId xmlns:a16="http://schemas.microsoft.com/office/drawing/2014/main" id="{2E803E71-3088-0347-9BCC-16ADB551CCC8}"/>
              </a:ext>
            </a:extLst>
          </p:cNvPr>
          <p:cNvSpPr>
            <a:spLocks noGrp="1"/>
          </p:cNvSpPr>
          <p:nvPr>
            <p:ph type="dt" sz="half" idx="14"/>
          </p:nvPr>
        </p:nvSpPr>
        <p:spPr>
          <a:xfrm>
            <a:off x="2992120" y="6332220"/>
            <a:ext cx="1769350" cy="247651"/>
          </a:xfrm>
        </p:spPr>
        <p:txBody>
          <a:bodyPr rtlCol="0"/>
          <a:lstStyle/>
          <a:p>
            <a:pPr rtl="0"/>
            <a:fld id="{9456EE63-1EEE-4597-ABCE-70474E8B3A13}" type="datetime4">
              <a:rPr lang="es-MX" smtClean="0"/>
              <a:t>26 de septiembre de 2024</a:t>
            </a:fld>
            <a:endParaRPr lang="es-MX"/>
          </a:p>
        </p:txBody>
      </p:sp>
      <p:pic>
        <p:nvPicPr>
          <p:cNvPr id="3078" name="Picture 6" descr="How to use the GitHub API in Python">
            <a:extLst>
              <a:ext uri="{FF2B5EF4-FFF2-40B4-BE49-F238E27FC236}">
                <a16:creationId xmlns:a16="http://schemas.microsoft.com/office/drawing/2014/main" id="{BDD90742-DD19-9F58-2C52-4C123FC579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391886"/>
            <a:ext cx="5241153" cy="29526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ll About JupyterLab/Google Colab - PSU Institute for Computational and  Data Sciences | High Performance Computing at Penn State">
            <a:extLst>
              <a:ext uri="{FF2B5EF4-FFF2-40B4-BE49-F238E27FC236}">
                <a16:creationId xmlns:a16="http://schemas.microsoft.com/office/drawing/2014/main" id="{185C4DE3-C026-31B3-C4AD-3E45184F5E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5301" y="3789045"/>
            <a:ext cx="478155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94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20" name="Marcador de posición de imagen 19" descr="Una foto en blanco y negro de un semillero">
            <a:extLst>
              <a:ext uri="{FF2B5EF4-FFF2-40B4-BE49-F238E27FC236}">
                <a16:creationId xmlns:a16="http://schemas.microsoft.com/office/drawing/2014/main" id="{12F007AF-B3B3-4BBC-9990-D46E31738B7C}"/>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p:spPr>
      </p:pic>
      <p:sp>
        <p:nvSpPr>
          <p:cNvPr id="2" name="Título 1">
            <a:extLst>
              <a:ext uri="{FF2B5EF4-FFF2-40B4-BE49-F238E27FC236}">
                <a16:creationId xmlns:a16="http://schemas.microsoft.com/office/drawing/2014/main" id="{A8704A28-E62C-2E4A-A2A4-AD85CB6126A2}"/>
              </a:ext>
            </a:extLst>
          </p:cNvPr>
          <p:cNvSpPr>
            <a:spLocks noGrp="1"/>
          </p:cNvSpPr>
          <p:nvPr>
            <p:ph type="title"/>
          </p:nvPr>
        </p:nvSpPr>
        <p:spPr>
          <a:xfrm>
            <a:off x="7193943" y="3045437"/>
            <a:ext cx="4941477" cy="610863"/>
          </a:xfrm>
        </p:spPr>
        <p:txBody>
          <a:bodyPr rtlCol="0"/>
          <a:lstStyle/>
          <a:p>
            <a:pPr rtl="0"/>
            <a:r>
              <a:rPr lang="es-MX" dirty="0"/>
              <a:t>¿AI = LLM?</a:t>
            </a:r>
          </a:p>
        </p:txBody>
      </p:sp>
      <p:cxnSp>
        <p:nvCxnSpPr>
          <p:cNvPr id="6" name="Conector recto 5">
            <a:extLst>
              <a:ext uri="{FF2B5EF4-FFF2-40B4-BE49-F238E27FC236}">
                <a16:creationId xmlns:a16="http://schemas.microsoft.com/office/drawing/2014/main" id="{4D6EE753-BEBB-4348-896E-73627FDDCF64}"/>
              </a:ext>
              <a:ext uri="{C183D7F6-B498-43B3-948B-1728B52AA6E4}">
                <adec:decorative xmlns:adec="http://schemas.microsoft.com/office/drawing/2017/decorative" val="1"/>
              </a:ext>
            </a:extLst>
          </p:cNvPr>
          <p:cNvCxnSpPr>
            <a:cxnSpLocks/>
          </p:cNvCxnSpPr>
          <p:nvPr/>
        </p:nvCxnSpPr>
        <p:spPr>
          <a:xfrm>
            <a:off x="7194680"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05465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339315B-8AAE-A946-ABBF-894F2E4B1338}"/>
              </a:ext>
            </a:extLst>
          </p:cNvPr>
          <p:cNvSpPr>
            <a:spLocks noGrp="1"/>
          </p:cNvSpPr>
          <p:nvPr>
            <p:ph type="title"/>
          </p:nvPr>
        </p:nvSpPr>
        <p:spPr>
          <a:xfrm>
            <a:off x="964022" y="879063"/>
            <a:ext cx="8880193" cy="610863"/>
          </a:xfrm>
        </p:spPr>
        <p:txBody>
          <a:bodyPr rtlCol="0">
            <a:normAutofit/>
          </a:bodyPr>
          <a:lstStyle/>
          <a:p>
            <a:pPr rtl="0"/>
            <a:r>
              <a:rPr lang="es-MX" dirty="0"/>
              <a:t>¿LLM = Inteligencia artificial?</a:t>
            </a:r>
          </a:p>
        </p:txBody>
      </p:sp>
      <p:sp>
        <p:nvSpPr>
          <p:cNvPr id="6" name="Marcador de posición de número de diapositiva 5">
            <a:extLst>
              <a:ext uri="{FF2B5EF4-FFF2-40B4-BE49-F238E27FC236}">
                <a16:creationId xmlns:a16="http://schemas.microsoft.com/office/drawing/2014/main" id="{54AEFD4E-3C68-714D-803E-EF85A323B95F}"/>
              </a:ext>
            </a:extLst>
          </p:cNvPr>
          <p:cNvSpPr>
            <a:spLocks noGrp="1"/>
          </p:cNvSpPr>
          <p:nvPr>
            <p:ph type="sldNum" sz="quarter" idx="13"/>
          </p:nvPr>
        </p:nvSpPr>
        <p:spPr>
          <a:xfrm>
            <a:off x="971550" y="6332220"/>
            <a:ext cx="523240" cy="247651"/>
          </a:xfrm>
        </p:spPr>
        <p:txBody>
          <a:bodyPr rtlCol="0"/>
          <a:lstStyle/>
          <a:p>
            <a:pPr rtl="0"/>
            <a:fld id="{294A09A9-5501-47C1-A89A-A340965A2BE2}" type="slidenum">
              <a:rPr lang="es-MX" smtClean="0"/>
              <a:pPr rtl="0"/>
              <a:t>6</a:t>
            </a:fld>
            <a:endParaRPr lang="es-MX" dirty="0"/>
          </a:p>
        </p:txBody>
      </p:sp>
      <p:sp>
        <p:nvSpPr>
          <p:cNvPr id="5" name="Marcador de posición de pie de página 4">
            <a:extLst>
              <a:ext uri="{FF2B5EF4-FFF2-40B4-BE49-F238E27FC236}">
                <a16:creationId xmlns:a16="http://schemas.microsoft.com/office/drawing/2014/main" id="{234E9584-EA07-9B45-9700-4AD3524B82A0}"/>
              </a:ext>
            </a:extLst>
          </p:cNvPr>
          <p:cNvSpPr>
            <a:spLocks noGrp="1"/>
          </p:cNvSpPr>
          <p:nvPr>
            <p:ph type="ftr" sz="quarter" idx="12"/>
          </p:nvPr>
        </p:nvSpPr>
        <p:spPr>
          <a:xfrm>
            <a:off x="1494790" y="6332220"/>
            <a:ext cx="1497330" cy="247651"/>
          </a:xfrm>
        </p:spPr>
        <p:txBody>
          <a:bodyPr rtlCol="0"/>
          <a:lstStyle/>
          <a:p>
            <a:pPr rtl="0"/>
            <a:r>
              <a:rPr lang="es-MX" dirty="0"/>
              <a:t>Revisión anual</a:t>
            </a:r>
          </a:p>
        </p:txBody>
      </p:sp>
      <p:sp>
        <p:nvSpPr>
          <p:cNvPr id="4" name="Marcador de posición de fecha 3">
            <a:extLst>
              <a:ext uri="{FF2B5EF4-FFF2-40B4-BE49-F238E27FC236}">
                <a16:creationId xmlns:a16="http://schemas.microsoft.com/office/drawing/2014/main" id="{B9865729-8F7C-E34E-AA31-9352CF6D9EB9}"/>
              </a:ext>
            </a:extLst>
          </p:cNvPr>
          <p:cNvSpPr>
            <a:spLocks noGrp="1"/>
          </p:cNvSpPr>
          <p:nvPr>
            <p:ph type="dt" sz="half" idx="11"/>
          </p:nvPr>
        </p:nvSpPr>
        <p:spPr>
          <a:xfrm>
            <a:off x="2992119" y="6332220"/>
            <a:ext cx="2123577" cy="247651"/>
          </a:xfrm>
        </p:spPr>
        <p:txBody>
          <a:bodyPr rtlCol="0"/>
          <a:lstStyle/>
          <a:p>
            <a:pPr rtl="0"/>
            <a:fld id="{A1610430-73C2-44D9-8E00-67DCAFADAC67}" type="datetime4">
              <a:rPr lang="es-MX" smtClean="0"/>
              <a:t>26 de septiembre de 2024</a:t>
            </a:fld>
            <a:endParaRPr lang="es-MX" dirty="0"/>
          </a:p>
        </p:txBody>
      </p:sp>
      <p:sp>
        <p:nvSpPr>
          <p:cNvPr id="13" name="CuadroTexto 12">
            <a:extLst>
              <a:ext uri="{FF2B5EF4-FFF2-40B4-BE49-F238E27FC236}">
                <a16:creationId xmlns:a16="http://schemas.microsoft.com/office/drawing/2014/main" id="{3B122332-0754-60E4-52ED-D8C1303B1C91}"/>
              </a:ext>
            </a:extLst>
          </p:cNvPr>
          <p:cNvSpPr txBox="1"/>
          <p:nvPr/>
        </p:nvSpPr>
        <p:spPr>
          <a:xfrm>
            <a:off x="1366576" y="1899138"/>
            <a:ext cx="8742066" cy="2862322"/>
          </a:xfrm>
          <a:prstGeom prst="rect">
            <a:avLst/>
          </a:prstGeom>
          <a:noFill/>
        </p:spPr>
        <p:txBody>
          <a:bodyPr wrap="square" rtlCol="0">
            <a:spAutoFit/>
          </a:bodyPr>
          <a:lstStyle/>
          <a:p>
            <a:pPr algn="just"/>
            <a:r>
              <a:rPr lang="es-MX" dirty="0">
                <a:solidFill>
                  <a:schemeClr val="bg1"/>
                </a:solidFill>
              </a:rPr>
              <a:t>Los </a:t>
            </a:r>
            <a:r>
              <a:rPr lang="es-MX" dirty="0" err="1">
                <a:solidFill>
                  <a:schemeClr val="bg1"/>
                </a:solidFill>
              </a:rPr>
              <a:t>LLMs</a:t>
            </a:r>
            <a:r>
              <a:rPr lang="es-MX" dirty="0">
                <a:solidFill>
                  <a:schemeClr val="bg1"/>
                </a:solidFill>
              </a:rPr>
              <a:t> se basan en la arquitectura </a:t>
            </a:r>
            <a:r>
              <a:rPr lang="es-MX" dirty="0" err="1">
                <a:solidFill>
                  <a:schemeClr val="bg1"/>
                </a:solidFill>
              </a:rPr>
              <a:t>Transformer</a:t>
            </a:r>
            <a:r>
              <a:rPr lang="es-MX" dirty="0">
                <a:solidFill>
                  <a:schemeClr val="bg1"/>
                </a:solidFill>
              </a:rPr>
              <a:t>:</a:t>
            </a:r>
          </a:p>
          <a:p>
            <a:pPr algn="just"/>
            <a:endParaRPr lang="es-MX" dirty="0">
              <a:solidFill>
                <a:schemeClr val="bg1"/>
              </a:solidFill>
            </a:endParaRPr>
          </a:p>
          <a:p>
            <a:pPr algn="just"/>
            <a:r>
              <a:rPr lang="es-MX" b="1" dirty="0">
                <a:solidFill>
                  <a:schemeClr val="bg1"/>
                </a:solidFill>
              </a:rPr>
              <a:t>1. </a:t>
            </a:r>
            <a:r>
              <a:rPr lang="es-MX" b="1" dirty="0" err="1">
                <a:solidFill>
                  <a:schemeClr val="bg1"/>
                </a:solidFill>
              </a:rPr>
              <a:t>Embeddings</a:t>
            </a:r>
            <a:r>
              <a:rPr lang="es-MX" b="1" dirty="0">
                <a:solidFill>
                  <a:schemeClr val="bg1"/>
                </a:solidFill>
              </a:rPr>
              <a:t>:</a:t>
            </a:r>
          </a:p>
          <a:p>
            <a:pPr algn="just"/>
            <a:r>
              <a:rPr lang="es-MX" b="1" dirty="0">
                <a:solidFill>
                  <a:schemeClr val="bg1"/>
                </a:solidFill>
              </a:rPr>
              <a:t>2. Atención Escalonada (</a:t>
            </a:r>
            <a:r>
              <a:rPr lang="es-MX" b="1" dirty="0" err="1">
                <a:solidFill>
                  <a:schemeClr val="bg1"/>
                </a:solidFill>
              </a:rPr>
              <a:t>Scaled</a:t>
            </a:r>
            <a:r>
              <a:rPr lang="es-MX" b="1" dirty="0">
                <a:solidFill>
                  <a:schemeClr val="bg1"/>
                </a:solidFill>
              </a:rPr>
              <a:t> </a:t>
            </a:r>
            <a:r>
              <a:rPr lang="es-MX" b="1" dirty="0" err="1">
                <a:solidFill>
                  <a:schemeClr val="bg1"/>
                </a:solidFill>
              </a:rPr>
              <a:t>Dot-Product</a:t>
            </a:r>
            <a:r>
              <a:rPr lang="es-MX" b="1" dirty="0">
                <a:solidFill>
                  <a:schemeClr val="bg1"/>
                </a:solidFill>
              </a:rPr>
              <a:t> </a:t>
            </a:r>
            <a:r>
              <a:rPr lang="es-MX" b="1" dirty="0" err="1">
                <a:solidFill>
                  <a:schemeClr val="bg1"/>
                </a:solidFill>
              </a:rPr>
              <a:t>Attention</a:t>
            </a:r>
            <a:r>
              <a:rPr lang="es-MX" b="1" dirty="0">
                <a:solidFill>
                  <a:schemeClr val="bg1"/>
                </a:solidFill>
              </a:rPr>
              <a:t>):</a:t>
            </a:r>
          </a:p>
          <a:p>
            <a:pPr algn="just"/>
            <a:r>
              <a:rPr lang="es-MX" b="1" dirty="0">
                <a:solidFill>
                  <a:schemeClr val="bg1"/>
                </a:solidFill>
              </a:rPr>
              <a:t>3. Capas de Multi-Cabeza de Atención:</a:t>
            </a:r>
          </a:p>
          <a:p>
            <a:pPr algn="just"/>
            <a:r>
              <a:rPr lang="es-MX" b="1" dirty="0">
                <a:solidFill>
                  <a:schemeClr val="bg1"/>
                </a:solidFill>
              </a:rPr>
              <a:t>4. </a:t>
            </a:r>
            <a:r>
              <a:rPr lang="es-MX" b="1" dirty="0" err="1">
                <a:solidFill>
                  <a:schemeClr val="bg1"/>
                </a:solidFill>
              </a:rPr>
              <a:t>Feed</a:t>
            </a:r>
            <a:r>
              <a:rPr lang="es-MX" b="1" dirty="0">
                <a:solidFill>
                  <a:schemeClr val="bg1"/>
                </a:solidFill>
              </a:rPr>
              <a:t>-Forward Network (FFN):</a:t>
            </a:r>
          </a:p>
          <a:p>
            <a:pPr algn="just"/>
            <a:r>
              <a:rPr lang="es-MX" b="1" dirty="0">
                <a:solidFill>
                  <a:schemeClr val="bg1"/>
                </a:solidFill>
              </a:rPr>
              <a:t>5. Salida y Generación de Texto:</a:t>
            </a:r>
          </a:p>
          <a:p>
            <a:pPr algn="just"/>
            <a:endParaRPr lang="es-MX" dirty="0">
              <a:solidFill>
                <a:schemeClr val="bg1"/>
              </a:solidFill>
            </a:endParaRPr>
          </a:p>
          <a:p>
            <a:pPr algn="just"/>
            <a:r>
              <a:rPr lang="es-MX" dirty="0">
                <a:solidFill>
                  <a:schemeClr val="bg1"/>
                </a:solidFill>
              </a:rPr>
              <a:t>En cada paso, el modelo ajusta sus parámetros para minimizar la pérdida en la predicción de palabras, aprendiendo patrones complejos del lenguaje.</a:t>
            </a:r>
          </a:p>
        </p:txBody>
      </p:sp>
    </p:spTree>
    <p:extLst>
      <p:ext uri="{BB962C8B-B14F-4D97-AF65-F5344CB8AC3E}">
        <p14:creationId xmlns:p14="http://schemas.microsoft.com/office/powerpoint/2010/main" val="2521537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339315B-8AAE-A946-ABBF-894F2E4B1338}"/>
              </a:ext>
            </a:extLst>
          </p:cNvPr>
          <p:cNvSpPr>
            <a:spLocks noGrp="1"/>
          </p:cNvSpPr>
          <p:nvPr>
            <p:ph type="title"/>
          </p:nvPr>
        </p:nvSpPr>
        <p:spPr>
          <a:xfrm>
            <a:off x="964022" y="879063"/>
            <a:ext cx="8880193" cy="610863"/>
          </a:xfrm>
        </p:spPr>
        <p:txBody>
          <a:bodyPr rtlCol="0">
            <a:normAutofit/>
          </a:bodyPr>
          <a:lstStyle/>
          <a:p>
            <a:pPr rtl="0"/>
            <a:r>
              <a:rPr lang="es-MX" dirty="0"/>
              <a:t>¿LLM = Inteligencia artificial?</a:t>
            </a:r>
          </a:p>
        </p:txBody>
      </p:sp>
      <p:sp>
        <p:nvSpPr>
          <p:cNvPr id="6" name="Marcador de posición de número de diapositiva 5">
            <a:extLst>
              <a:ext uri="{FF2B5EF4-FFF2-40B4-BE49-F238E27FC236}">
                <a16:creationId xmlns:a16="http://schemas.microsoft.com/office/drawing/2014/main" id="{54AEFD4E-3C68-714D-803E-EF85A323B95F}"/>
              </a:ext>
            </a:extLst>
          </p:cNvPr>
          <p:cNvSpPr>
            <a:spLocks noGrp="1"/>
          </p:cNvSpPr>
          <p:nvPr>
            <p:ph type="sldNum" sz="quarter" idx="13"/>
          </p:nvPr>
        </p:nvSpPr>
        <p:spPr>
          <a:xfrm>
            <a:off x="971550" y="6332220"/>
            <a:ext cx="523240" cy="247651"/>
          </a:xfrm>
        </p:spPr>
        <p:txBody>
          <a:bodyPr rtlCol="0"/>
          <a:lstStyle/>
          <a:p>
            <a:pPr rtl="0"/>
            <a:fld id="{294A09A9-5501-47C1-A89A-A340965A2BE2}" type="slidenum">
              <a:rPr lang="es-MX" smtClean="0"/>
              <a:pPr rtl="0"/>
              <a:t>7</a:t>
            </a:fld>
            <a:endParaRPr lang="es-MX" dirty="0"/>
          </a:p>
        </p:txBody>
      </p:sp>
      <p:sp>
        <p:nvSpPr>
          <p:cNvPr id="5" name="Marcador de posición de pie de página 4">
            <a:extLst>
              <a:ext uri="{FF2B5EF4-FFF2-40B4-BE49-F238E27FC236}">
                <a16:creationId xmlns:a16="http://schemas.microsoft.com/office/drawing/2014/main" id="{234E9584-EA07-9B45-9700-4AD3524B82A0}"/>
              </a:ext>
            </a:extLst>
          </p:cNvPr>
          <p:cNvSpPr>
            <a:spLocks noGrp="1"/>
          </p:cNvSpPr>
          <p:nvPr>
            <p:ph type="ftr" sz="quarter" idx="12"/>
          </p:nvPr>
        </p:nvSpPr>
        <p:spPr>
          <a:xfrm>
            <a:off x="1494790" y="6332220"/>
            <a:ext cx="1497330" cy="247651"/>
          </a:xfrm>
        </p:spPr>
        <p:txBody>
          <a:bodyPr rtlCol="0"/>
          <a:lstStyle/>
          <a:p>
            <a:pPr rtl="0"/>
            <a:r>
              <a:rPr lang="es-MX" dirty="0"/>
              <a:t>Revisión anual</a:t>
            </a:r>
          </a:p>
        </p:txBody>
      </p:sp>
      <p:sp>
        <p:nvSpPr>
          <p:cNvPr id="4" name="Marcador de posición de fecha 3">
            <a:extLst>
              <a:ext uri="{FF2B5EF4-FFF2-40B4-BE49-F238E27FC236}">
                <a16:creationId xmlns:a16="http://schemas.microsoft.com/office/drawing/2014/main" id="{B9865729-8F7C-E34E-AA31-9352CF6D9EB9}"/>
              </a:ext>
            </a:extLst>
          </p:cNvPr>
          <p:cNvSpPr>
            <a:spLocks noGrp="1"/>
          </p:cNvSpPr>
          <p:nvPr>
            <p:ph type="dt" sz="half" idx="11"/>
          </p:nvPr>
        </p:nvSpPr>
        <p:spPr>
          <a:xfrm>
            <a:off x="2992119" y="6332220"/>
            <a:ext cx="2123577" cy="247651"/>
          </a:xfrm>
        </p:spPr>
        <p:txBody>
          <a:bodyPr rtlCol="0"/>
          <a:lstStyle/>
          <a:p>
            <a:pPr rtl="0"/>
            <a:fld id="{A1610430-73C2-44D9-8E00-67DCAFADAC67}" type="datetime4">
              <a:rPr lang="es-MX" smtClean="0"/>
              <a:t>26 de septiembre de 2024</a:t>
            </a:fld>
            <a:endParaRPr lang="es-MX" dirty="0"/>
          </a:p>
        </p:txBody>
      </p:sp>
      <p:sp>
        <p:nvSpPr>
          <p:cNvPr id="13" name="CuadroTexto 12">
            <a:extLst>
              <a:ext uri="{FF2B5EF4-FFF2-40B4-BE49-F238E27FC236}">
                <a16:creationId xmlns:a16="http://schemas.microsoft.com/office/drawing/2014/main" id="{3B122332-0754-60E4-52ED-D8C1303B1C91}"/>
              </a:ext>
            </a:extLst>
          </p:cNvPr>
          <p:cNvSpPr txBox="1"/>
          <p:nvPr/>
        </p:nvSpPr>
        <p:spPr>
          <a:xfrm>
            <a:off x="1366576" y="1899138"/>
            <a:ext cx="8742066" cy="584775"/>
          </a:xfrm>
          <a:prstGeom prst="rect">
            <a:avLst/>
          </a:prstGeom>
          <a:noFill/>
        </p:spPr>
        <p:txBody>
          <a:bodyPr wrap="square" rtlCol="0">
            <a:spAutoFit/>
          </a:bodyPr>
          <a:lstStyle/>
          <a:p>
            <a:r>
              <a:rPr lang="es-MX" sz="3200" dirty="0">
                <a:solidFill>
                  <a:schemeClr val="bg1"/>
                </a:solidFill>
              </a:rPr>
              <a:t>Quizás.</a:t>
            </a:r>
          </a:p>
        </p:txBody>
      </p:sp>
      <p:pic>
        <p:nvPicPr>
          <p:cNvPr id="4098" name="Picture 2" descr="How to Create a Mind by Ray Kurzweil: 9780143124047 |  PenguinRandomHouse.com: Books">
            <a:extLst>
              <a:ext uri="{FF2B5EF4-FFF2-40B4-BE49-F238E27FC236}">
                <a16:creationId xmlns:a16="http://schemas.microsoft.com/office/drawing/2014/main" id="{D2B43DE0-22E4-6E03-C76E-4AFD2D844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0587" y="1692687"/>
            <a:ext cx="2790825" cy="42862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mazon.com: Ray Kurzweil: books, biography, latest update">
            <a:extLst>
              <a:ext uri="{FF2B5EF4-FFF2-40B4-BE49-F238E27FC236}">
                <a16:creationId xmlns:a16="http://schemas.microsoft.com/office/drawing/2014/main" id="{7C0CDEA2-8CD4-918A-9759-62D3BA74EB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725" y="1720442"/>
            <a:ext cx="2986980" cy="4611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298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339315B-8AAE-A946-ABBF-894F2E4B1338}"/>
              </a:ext>
            </a:extLst>
          </p:cNvPr>
          <p:cNvSpPr>
            <a:spLocks noGrp="1"/>
          </p:cNvSpPr>
          <p:nvPr>
            <p:ph type="title"/>
          </p:nvPr>
        </p:nvSpPr>
        <p:spPr>
          <a:xfrm>
            <a:off x="964022" y="879063"/>
            <a:ext cx="8880193" cy="610863"/>
          </a:xfrm>
        </p:spPr>
        <p:txBody>
          <a:bodyPr rtlCol="0">
            <a:normAutofit/>
          </a:bodyPr>
          <a:lstStyle/>
          <a:p>
            <a:pPr rtl="0"/>
            <a:r>
              <a:rPr lang="es-MX" dirty="0"/>
              <a:t>Modelos 2022- (Jun) 2024 </a:t>
            </a:r>
          </a:p>
        </p:txBody>
      </p:sp>
      <p:sp>
        <p:nvSpPr>
          <p:cNvPr id="6" name="Marcador de posición de número de diapositiva 5">
            <a:extLst>
              <a:ext uri="{FF2B5EF4-FFF2-40B4-BE49-F238E27FC236}">
                <a16:creationId xmlns:a16="http://schemas.microsoft.com/office/drawing/2014/main" id="{54AEFD4E-3C68-714D-803E-EF85A323B95F}"/>
              </a:ext>
            </a:extLst>
          </p:cNvPr>
          <p:cNvSpPr>
            <a:spLocks noGrp="1"/>
          </p:cNvSpPr>
          <p:nvPr>
            <p:ph type="sldNum" sz="quarter" idx="13"/>
          </p:nvPr>
        </p:nvSpPr>
        <p:spPr>
          <a:xfrm>
            <a:off x="971550" y="6332220"/>
            <a:ext cx="523240" cy="247651"/>
          </a:xfrm>
        </p:spPr>
        <p:txBody>
          <a:bodyPr rtlCol="0"/>
          <a:lstStyle/>
          <a:p>
            <a:pPr rtl="0"/>
            <a:fld id="{294A09A9-5501-47C1-A89A-A340965A2BE2}" type="slidenum">
              <a:rPr lang="es-MX" smtClean="0"/>
              <a:pPr rtl="0"/>
              <a:t>8</a:t>
            </a:fld>
            <a:endParaRPr lang="es-MX" dirty="0"/>
          </a:p>
        </p:txBody>
      </p:sp>
      <p:sp>
        <p:nvSpPr>
          <p:cNvPr id="5" name="Marcador de posición de pie de página 4">
            <a:extLst>
              <a:ext uri="{FF2B5EF4-FFF2-40B4-BE49-F238E27FC236}">
                <a16:creationId xmlns:a16="http://schemas.microsoft.com/office/drawing/2014/main" id="{234E9584-EA07-9B45-9700-4AD3524B82A0}"/>
              </a:ext>
            </a:extLst>
          </p:cNvPr>
          <p:cNvSpPr>
            <a:spLocks noGrp="1"/>
          </p:cNvSpPr>
          <p:nvPr>
            <p:ph type="ftr" sz="quarter" idx="12"/>
          </p:nvPr>
        </p:nvSpPr>
        <p:spPr>
          <a:xfrm>
            <a:off x="1494790" y="6332220"/>
            <a:ext cx="1497330" cy="247651"/>
          </a:xfrm>
        </p:spPr>
        <p:txBody>
          <a:bodyPr rtlCol="0"/>
          <a:lstStyle/>
          <a:p>
            <a:pPr rtl="0"/>
            <a:r>
              <a:rPr lang="es-MX" dirty="0"/>
              <a:t>Revisión anual</a:t>
            </a:r>
          </a:p>
        </p:txBody>
      </p:sp>
      <p:sp>
        <p:nvSpPr>
          <p:cNvPr id="4" name="Marcador de posición de fecha 3">
            <a:extLst>
              <a:ext uri="{FF2B5EF4-FFF2-40B4-BE49-F238E27FC236}">
                <a16:creationId xmlns:a16="http://schemas.microsoft.com/office/drawing/2014/main" id="{B9865729-8F7C-E34E-AA31-9352CF6D9EB9}"/>
              </a:ext>
            </a:extLst>
          </p:cNvPr>
          <p:cNvSpPr>
            <a:spLocks noGrp="1"/>
          </p:cNvSpPr>
          <p:nvPr>
            <p:ph type="dt" sz="half" idx="11"/>
          </p:nvPr>
        </p:nvSpPr>
        <p:spPr>
          <a:xfrm>
            <a:off x="2992119" y="6332220"/>
            <a:ext cx="2123577" cy="247651"/>
          </a:xfrm>
        </p:spPr>
        <p:txBody>
          <a:bodyPr rtlCol="0"/>
          <a:lstStyle/>
          <a:p>
            <a:pPr rtl="0"/>
            <a:fld id="{A1610430-73C2-44D9-8E00-67DCAFADAC67}" type="datetime4">
              <a:rPr lang="es-MX" smtClean="0"/>
              <a:t>26 de septiembre de 2024</a:t>
            </a:fld>
            <a:endParaRPr lang="es-MX" dirty="0"/>
          </a:p>
        </p:txBody>
      </p:sp>
      <p:graphicFrame>
        <p:nvGraphicFramePr>
          <p:cNvPr id="10" name="Tabla 9">
            <a:extLst>
              <a:ext uri="{FF2B5EF4-FFF2-40B4-BE49-F238E27FC236}">
                <a16:creationId xmlns:a16="http://schemas.microsoft.com/office/drawing/2014/main" id="{F7520998-7DEF-2642-B251-EBD6C8F3D902}"/>
              </a:ext>
            </a:extLst>
          </p:cNvPr>
          <p:cNvGraphicFramePr>
            <a:graphicFrameLocks noGrp="1"/>
          </p:cNvGraphicFramePr>
          <p:nvPr/>
        </p:nvGraphicFramePr>
        <p:xfrm>
          <a:off x="1147223" y="1627795"/>
          <a:ext cx="9956205" cy="4119864"/>
        </p:xfrm>
        <a:graphic>
          <a:graphicData uri="http://schemas.openxmlformats.org/drawingml/2006/table">
            <a:tbl>
              <a:tblPr firstRow="1" firstCol="1" bandRow="1">
                <a:tableStyleId>{5C22544A-7EE6-4342-B048-85BDC9FD1C3A}</a:tableStyleId>
              </a:tblPr>
              <a:tblGrid>
                <a:gridCol w="1293661">
                  <a:extLst>
                    <a:ext uri="{9D8B030D-6E8A-4147-A177-3AD203B41FA5}">
                      <a16:colId xmlns:a16="http://schemas.microsoft.com/office/drawing/2014/main" val="2399911401"/>
                    </a:ext>
                  </a:extLst>
                </a:gridCol>
                <a:gridCol w="2264448">
                  <a:extLst>
                    <a:ext uri="{9D8B030D-6E8A-4147-A177-3AD203B41FA5}">
                      <a16:colId xmlns:a16="http://schemas.microsoft.com/office/drawing/2014/main" val="2841605090"/>
                    </a:ext>
                  </a:extLst>
                </a:gridCol>
                <a:gridCol w="6398096">
                  <a:extLst>
                    <a:ext uri="{9D8B030D-6E8A-4147-A177-3AD203B41FA5}">
                      <a16:colId xmlns:a16="http://schemas.microsoft.com/office/drawing/2014/main" val="3470289928"/>
                    </a:ext>
                  </a:extLst>
                </a:gridCol>
              </a:tblGrid>
              <a:tr h="343322">
                <a:tc>
                  <a:txBody>
                    <a:bodyPr/>
                    <a:lstStyle/>
                    <a:p>
                      <a:pPr algn="ctr"/>
                      <a:r>
                        <a:rPr lang="es-MX" sz="1600" kern="0" dirty="0">
                          <a:solidFill>
                            <a:schemeClr val="bg1"/>
                          </a:solidFill>
                          <a:effectLst/>
                        </a:rPr>
                        <a:t>Modelo</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MX" sz="1600" kern="0">
                          <a:solidFill>
                            <a:schemeClr val="bg1"/>
                          </a:solidFill>
                          <a:effectLst/>
                        </a:rPr>
                        <a:t>Organización</a:t>
                      </a:r>
                      <a:endParaRPr lang="es-MX" sz="1600" kern="5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MX" sz="1600" kern="0" dirty="0">
                          <a:solidFill>
                            <a:schemeClr val="bg1"/>
                          </a:solidFill>
                          <a:effectLst/>
                        </a:rPr>
                        <a:t>Tamaño</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2048238"/>
                  </a:ext>
                </a:extLst>
              </a:tr>
              <a:tr h="343322">
                <a:tc>
                  <a:txBody>
                    <a:bodyPr/>
                    <a:lstStyle/>
                    <a:p>
                      <a:r>
                        <a:rPr lang="es-MX" sz="1600" kern="0" dirty="0">
                          <a:solidFill>
                            <a:schemeClr val="bg1"/>
                          </a:solidFill>
                          <a:effectLst/>
                        </a:rPr>
                        <a:t>GPT-4</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s-MX" sz="1600" kern="0">
                          <a:effectLst/>
                        </a:rPr>
                        <a:t>OpenAI</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s-MX" sz="1600" kern="0" dirty="0">
                          <a:effectLst/>
                        </a:rPr>
                        <a:t>Desconocido (parcialmente)</a:t>
                      </a:r>
                      <a:endParaRPr lang="es-MX" sz="1600" kern="50" dirty="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285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50005331"/>
                  </a:ext>
                </a:extLst>
              </a:tr>
              <a:tr h="343322">
                <a:tc>
                  <a:txBody>
                    <a:bodyPr/>
                    <a:lstStyle/>
                    <a:p>
                      <a:r>
                        <a:rPr lang="es-MX" sz="1600" kern="0" dirty="0">
                          <a:solidFill>
                            <a:schemeClr val="bg1"/>
                          </a:solidFill>
                          <a:effectLst/>
                        </a:rPr>
                        <a:t>GPT-3.X</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OpenAI</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175 mil millones de parámetros</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09699743"/>
                  </a:ext>
                </a:extLst>
              </a:tr>
              <a:tr h="343322">
                <a:tc>
                  <a:txBody>
                    <a:bodyPr/>
                    <a:lstStyle/>
                    <a:p>
                      <a:r>
                        <a:rPr lang="es-MX" sz="1600" kern="0" dirty="0">
                          <a:solidFill>
                            <a:schemeClr val="bg1"/>
                          </a:solidFill>
                          <a:effectLst/>
                        </a:rPr>
                        <a:t>BERT</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Google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110 millones de parámetros (BERT base)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80847297"/>
                  </a:ext>
                </a:extLst>
              </a:tr>
              <a:tr h="343322">
                <a:tc>
                  <a:txBody>
                    <a:bodyPr/>
                    <a:lstStyle/>
                    <a:p>
                      <a:r>
                        <a:rPr lang="es-MX" sz="1600" kern="0" dirty="0" err="1">
                          <a:solidFill>
                            <a:schemeClr val="bg1"/>
                          </a:solidFill>
                          <a:effectLst/>
                        </a:rPr>
                        <a:t>LaMDA</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Google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Desconocido (parcialmente)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1438800"/>
                  </a:ext>
                </a:extLst>
              </a:tr>
              <a:tr h="343322">
                <a:tc>
                  <a:txBody>
                    <a:bodyPr/>
                    <a:lstStyle/>
                    <a:p>
                      <a:r>
                        <a:rPr lang="es-MX" sz="1600" kern="0" dirty="0">
                          <a:solidFill>
                            <a:schemeClr val="bg1"/>
                          </a:solidFill>
                          <a:effectLst/>
                        </a:rPr>
                        <a:t>T5</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Google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11 mil millones de parámetros (T5-11B)</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1677655"/>
                  </a:ext>
                </a:extLst>
              </a:tr>
              <a:tr h="343322">
                <a:tc>
                  <a:txBody>
                    <a:bodyPr/>
                    <a:lstStyle/>
                    <a:p>
                      <a:r>
                        <a:rPr lang="es-MX" sz="1600" kern="0" dirty="0" err="1">
                          <a:solidFill>
                            <a:schemeClr val="bg1"/>
                          </a:solidFill>
                          <a:effectLst/>
                        </a:rPr>
                        <a:t>LLaMA</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Meta (Facebook)</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13 mil millones de parámetros (LLaMA-13B)</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04514408"/>
                  </a:ext>
                </a:extLst>
              </a:tr>
              <a:tr h="343322">
                <a:tc>
                  <a:txBody>
                    <a:bodyPr/>
                    <a:lstStyle/>
                    <a:p>
                      <a:r>
                        <a:rPr lang="es-MX" sz="1600" kern="0" dirty="0" err="1">
                          <a:solidFill>
                            <a:schemeClr val="bg1"/>
                          </a:solidFill>
                          <a:effectLst/>
                        </a:rPr>
                        <a:t>PaLM</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Google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540 mil millones de parámetros</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98709020"/>
                  </a:ext>
                </a:extLst>
              </a:tr>
              <a:tr h="343322">
                <a:tc>
                  <a:txBody>
                    <a:bodyPr/>
                    <a:lstStyle/>
                    <a:p>
                      <a:r>
                        <a:rPr lang="es-MX" sz="1600" kern="0" dirty="0">
                          <a:solidFill>
                            <a:schemeClr val="bg1"/>
                          </a:solidFill>
                          <a:effectLst/>
                        </a:rPr>
                        <a:t>GPT-</a:t>
                      </a:r>
                      <a:r>
                        <a:rPr lang="es-MX" sz="1600" kern="0" dirty="0" err="1">
                          <a:solidFill>
                            <a:schemeClr val="bg1"/>
                          </a:solidFill>
                          <a:effectLst/>
                        </a:rPr>
                        <a:t>NeoX</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EleutherAI</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20 mil millones de parámetros</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99144620"/>
                  </a:ext>
                </a:extLst>
              </a:tr>
              <a:tr h="343322">
                <a:tc>
                  <a:txBody>
                    <a:bodyPr/>
                    <a:lstStyle/>
                    <a:p>
                      <a:r>
                        <a:rPr lang="es-MX" sz="1600" kern="0" dirty="0">
                          <a:solidFill>
                            <a:schemeClr val="bg1"/>
                          </a:solidFill>
                          <a:effectLst/>
                        </a:rPr>
                        <a:t>Bloom</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BigScience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dirty="0">
                          <a:effectLst/>
                        </a:rPr>
                        <a:t>176 mil millones de parámetros</a:t>
                      </a:r>
                      <a:endParaRPr lang="es-MX" sz="1600" kern="50" dirty="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2771"/>
                  </a:ext>
                </a:extLst>
              </a:tr>
              <a:tr h="343322">
                <a:tc>
                  <a:txBody>
                    <a:bodyPr/>
                    <a:lstStyle/>
                    <a:p>
                      <a:r>
                        <a:rPr lang="es-MX" sz="1600" kern="0" dirty="0">
                          <a:solidFill>
                            <a:schemeClr val="bg1"/>
                          </a:solidFill>
                          <a:effectLst/>
                        </a:rPr>
                        <a:t>Claude</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Anthropic</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s-MX" sz="1600" kern="0">
                          <a:effectLst/>
                        </a:rPr>
                        <a:t>Desconocido (parcialmente)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06123566"/>
                  </a:ext>
                </a:extLst>
              </a:tr>
              <a:tr h="343322">
                <a:tc>
                  <a:txBody>
                    <a:bodyPr/>
                    <a:lstStyle/>
                    <a:p>
                      <a:r>
                        <a:rPr lang="es-MX" sz="1600" kern="0" dirty="0" err="1">
                          <a:solidFill>
                            <a:schemeClr val="bg1"/>
                          </a:solidFill>
                          <a:effectLst/>
                        </a:rPr>
                        <a:t>Cohere</a:t>
                      </a:r>
                      <a:endParaRPr lang="es-MX" sz="1600" kern="50" dirty="0">
                        <a:solidFill>
                          <a:schemeClr val="bg1"/>
                        </a:solidFill>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MX" sz="1600" kern="0">
                          <a:effectLst/>
                        </a:rPr>
                        <a:t>Cohere</a:t>
                      </a:r>
                      <a:endParaRPr lang="es-MX" sz="1600" kern="5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MX" sz="1600" kern="0" dirty="0">
                          <a:effectLst/>
                        </a:rPr>
                        <a:t>Desconocido (parcialmente)</a:t>
                      </a:r>
                      <a:endParaRPr lang="es-MX" sz="1600" kern="50" dirty="0">
                        <a:effectLst/>
                        <a:latin typeface="Times New Roman" panose="02020603050405020304" pitchFamily="18" charset="0"/>
                        <a:ea typeface="SimSun" panose="02010600030101010101" pitchFamily="2" charset="-122"/>
                        <a:cs typeface="Arial" panose="020B0604020202020204" pitchFamily="34" charset="0"/>
                      </a:endParaRPr>
                    </a:p>
                  </a:txBody>
                  <a:tcPr marL="9525" marR="9525" marT="9525" marB="9525" anchor="ctr">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4560084"/>
                  </a:ext>
                </a:extLst>
              </a:tr>
            </a:tbl>
          </a:graphicData>
        </a:graphic>
      </p:graphicFrame>
      <p:sp>
        <p:nvSpPr>
          <p:cNvPr id="11" name="Rectangle 4">
            <a:extLst>
              <a:ext uri="{FF2B5EF4-FFF2-40B4-BE49-F238E27FC236}">
                <a16:creationId xmlns:a16="http://schemas.microsoft.com/office/drawing/2014/main" id="{290A12AF-A15C-4F87-A427-1056F9EE15CA}"/>
              </a:ext>
            </a:extLst>
          </p:cNvPr>
          <p:cNvSpPr>
            <a:spLocks noChangeArrowheads="1"/>
          </p:cNvSpPr>
          <p:nvPr/>
        </p:nvSpPr>
        <p:spPr bwMode="auto">
          <a:xfrm>
            <a:off x="1147223" y="5848132"/>
            <a:ext cx="345479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s-MX" sz="1100" b="0" i="0" u="none" strike="noStrike" cap="none" normalizeH="0" baseline="0" dirty="0">
                <a:ln>
                  <a:noFill/>
                </a:ln>
                <a:solidFill>
                  <a:schemeClr val="bg1"/>
                </a:solidFill>
                <a:effectLst/>
                <a:latin typeface="Times New Roman" panose="02020603050405020304" pitchFamily="18" charset="0"/>
                <a:ea typeface="SimSun" panose="02010600030101010101" pitchFamily="2" charset="-122"/>
                <a:cs typeface="Times New Roman" panose="02020603050405020304" pitchFamily="18" charset="0"/>
              </a:rPr>
              <a:t>Fuente: OpenAI, Google, Meta, </a:t>
            </a:r>
            <a:r>
              <a:rPr kumimoji="0" lang="en-US" altLang="es-MX" sz="1100" b="0" i="0" u="none" strike="noStrike" cap="none" normalizeH="0" baseline="0" dirty="0" err="1">
                <a:ln>
                  <a:noFill/>
                </a:ln>
                <a:solidFill>
                  <a:schemeClr val="bg1"/>
                </a:solidFill>
                <a:effectLst/>
                <a:latin typeface="Times New Roman" panose="02020603050405020304" pitchFamily="18" charset="0"/>
                <a:ea typeface="SimSun" panose="02010600030101010101" pitchFamily="2" charset="-122"/>
                <a:cs typeface="Times New Roman" panose="02020603050405020304" pitchFamily="18" charset="0"/>
              </a:rPr>
              <a:t>EleutherAI</a:t>
            </a:r>
            <a:r>
              <a:rPr kumimoji="0" lang="en-US" altLang="es-MX" sz="1100" b="0" i="0" u="none" strike="noStrike" cap="none" normalizeH="0" baseline="0" dirty="0">
                <a:ln>
                  <a:noFill/>
                </a:ln>
                <a:solidFill>
                  <a:schemeClr val="bg1"/>
                </a:solidFill>
                <a:effectLst/>
                <a:latin typeface="Times New Roman" panose="02020603050405020304" pitchFamily="18" charset="0"/>
                <a:ea typeface="SimSun" panose="02010600030101010101" pitchFamily="2" charset="-122"/>
                <a:cs typeface="Times New Roman" panose="02020603050405020304" pitchFamily="18" charset="0"/>
              </a:rPr>
              <a:t>, Big Science. </a:t>
            </a:r>
            <a:endParaRPr kumimoji="0" lang="en-US" altLang="es-MX"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1588156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728DC-195E-4A4E-AEBA-5E0D1DB03B76}"/>
              </a:ext>
            </a:extLst>
          </p:cNvPr>
          <p:cNvSpPr>
            <a:spLocks noGrp="1"/>
          </p:cNvSpPr>
          <p:nvPr>
            <p:ph type="title"/>
          </p:nvPr>
        </p:nvSpPr>
        <p:spPr>
          <a:xfrm>
            <a:off x="577110" y="2401554"/>
            <a:ext cx="8090263" cy="3289971"/>
          </a:xfrm>
        </p:spPr>
        <p:txBody>
          <a:bodyPr rtlCol="0">
            <a:normAutofit fontScale="90000"/>
          </a:bodyPr>
          <a:lstStyle/>
          <a:p>
            <a:pPr algn="just" rtl="0"/>
            <a:r>
              <a:rPr lang="es-MX" sz="2400" kern="50" dirty="0">
                <a:effectLst/>
                <a:latin typeface="Times New Roman" panose="02020603050405020304" pitchFamily="18" charset="0"/>
                <a:ea typeface="SimSun" panose="02010600030101010101" pitchFamily="2" charset="-122"/>
              </a:rPr>
              <a:t>A pesar de sus beneficios, los </a:t>
            </a:r>
            <a:r>
              <a:rPr lang="es-MX" sz="2400" kern="50" dirty="0" err="1">
                <a:effectLst/>
                <a:latin typeface="Times New Roman" panose="02020603050405020304" pitchFamily="18" charset="0"/>
                <a:ea typeface="SimSun" panose="02010600030101010101" pitchFamily="2" charset="-122"/>
              </a:rPr>
              <a:t>LLMs</a:t>
            </a:r>
            <a:r>
              <a:rPr lang="es-MX" sz="2400" kern="50" dirty="0">
                <a:effectLst/>
                <a:latin typeface="Times New Roman" panose="02020603050405020304" pitchFamily="18" charset="0"/>
                <a:ea typeface="SimSun" panose="02010600030101010101" pitchFamily="2" charset="-122"/>
              </a:rPr>
              <a:t> presentan varias limitaciones importantes. Uno de los desafíos principales es su dependencia de los datos con los que fueron entrenados. Si los datos están desactualizados o contienen sesgos o errores, los modelos no se actualizan y pueden perpetuar y amplificar dichos sesgos.    </a:t>
            </a:r>
            <a:br>
              <a:rPr lang="es-MX" sz="2400" kern="50" dirty="0">
                <a:effectLst/>
                <a:latin typeface="Times New Roman" panose="02020603050405020304" pitchFamily="18" charset="0"/>
                <a:ea typeface="SimSun" panose="02010600030101010101" pitchFamily="2" charset="-122"/>
              </a:rPr>
            </a:br>
            <a:br>
              <a:rPr lang="es-MX" sz="3600" dirty="0"/>
            </a:br>
            <a:endParaRPr lang="es-MX" sz="3600" dirty="0"/>
          </a:p>
        </p:txBody>
      </p:sp>
      <p:pic>
        <p:nvPicPr>
          <p:cNvPr id="5122" name="Picture 2" descr="Qué es REALMENTE ChatGPT? (explicación sencilla y entendible)">
            <a:extLst>
              <a:ext uri="{FF2B5EF4-FFF2-40B4-BE49-F238E27FC236}">
                <a16:creationId xmlns:a16="http://schemas.microsoft.com/office/drawing/2014/main" id="{639C2E16-552E-DE4A-D203-5587522A8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01" y="135652"/>
            <a:ext cx="4019341" cy="226087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istral AI: La Startup Europea que Desafía a los Gigantes de la IA – Paula">
            <a:extLst>
              <a:ext uri="{FF2B5EF4-FFF2-40B4-BE49-F238E27FC236}">
                <a16:creationId xmlns:a16="http://schemas.microsoft.com/office/drawing/2014/main" id="{E5526C08-25FA-2C8E-8DCC-6C2AFA1166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611" y="4662825"/>
            <a:ext cx="6219825"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035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20" name="Marcador de posición de imagen 19" descr="Una foto en blanco y negro de un semillero">
            <a:extLst>
              <a:ext uri="{FF2B5EF4-FFF2-40B4-BE49-F238E27FC236}">
                <a16:creationId xmlns:a16="http://schemas.microsoft.com/office/drawing/2014/main" id="{12F007AF-B3B3-4BBC-9990-D46E31738B7C}"/>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p:spPr>
      </p:pic>
      <p:sp>
        <p:nvSpPr>
          <p:cNvPr id="2" name="Título 1">
            <a:extLst>
              <a:ext uri="{FF2B5EF4-FFF2-40B4-BE49-F238E27FC236}">
                <a16:creationId xmlns:a16="http://schemas.microsoft.com/office/drawing/2014/main" id="{A8704A28-E62C-2E4A-A2A4-AD85CB6126A2}"/>
              </a:ext>
            </a:extLst>
          </p:cNvPr>
          <p:cNvSpPr>
            <a:spLocks noGrp="1"/>
          </p:cNvSpPr>
          <p:nvPr>
            <p:ph type="title"/>
          </p:nvPr>
        </p:nvSpPr>
        <p:spPr>
          <a:xfrm>
            <a:off x="7193943" y="3045437"/>
            <a:ext cx="4941477" cy="610863"/>
          </a:xfrm>
        </p:spPr>
        <p:txBody>
          <a:bodyPr rtlCol="0"/>
          <a:lstStyle/>
          <a:p>
            <a:pPr rtl="0"/>
            <a:r>
              <a:rPr lang="es-MX" dirty="0"/>
              <a:t>Caso aplicado</a:t>
            </a:r>
          </a:p>
        </p:txBody>
      </p:sp>
      <p:cxnSp>
        <p:nvCxnSpPr>
          <p:cNvPr id="6" name="Conector recto 5">
            <a:extLst>
              <a:ext uri="{FF2B5EF4-FFF2-40B4-BE49-F238E27FC236}">
                <a16:creationId xmlns:a16="http://schemas.microsoft.com/office/drawing/2014/main" id="{4D6EE753-BEBB-4348-896E-73627FDDCF64}"/>
              </a:ext>
              <a:ext uri="{C183D7F6-B498-43B3-948B-1728B52AA6E4}">
                <adec:decorative xmlns:adec="http://schemas.microsoft.com/office/drawing/2017/decorative" val="1"/>
              </a:ext>
            </a:extLst>
          </p:cNvPr>
          <p:cNvCxnSpPr>
            <a:cxnSpLocks/>
          </p:cNvCxnSpPr>
          <p:nvPr/>
        </p:nvCxnSpPr>
        <p:spPr>
          <a:xfrm>
            <a:off x="7194680"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1219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728DC-195E-4A4E-AEBA-5E0D1DB03B76}"/>
              </a:ext>
            </a:extLst>
          </p:cNvPr>
          <p:cNvSpPr>
            <a:spLocks noGrp="1"/>
          </p:cNvSpPr>
          <p:nvPr>
            <p:ph type="title"/>
          </p:nvPr>
        </p:nvSpPr>
        <p:spPr>
          <a:xfrm>
            <a:off x="577110" y="2401554"/>
            <a:ext cx="8090263" cy="3289971"/>
          </a:xfrm>
        </p:spPr>
        <p:txBody>
          <a:bodyPr rtlCol="0">
            <a:normAutofit/>
          </a:bodyPr>
          <a:lstStyle/>
          <a:p>
            <a:pPr rtl="0"/>
            <a:r>
              <a:rPr lang="es-MX" sz="2400" kern="50" dirty="0">
                <a:effectLst/>
                <a:latin typeface="Times New Roman" panose="02020603050405020304" pitchFamily="18" charset="0"/>
                <a:ea typeface="SimSun" panose="02010600030101010101" pitchFamily="2" charset="-122"/>
              </a:rPr>
              <a:t>A partir de 10 artículos se buscará analizar la guerra de Rusia- Ucrania con AI.</a:t>
            </a:r>
            <a:br>
              <a:rPr lang="es-MX" sz="2400" kern="50" dirty="0">
                <a:effectLst/>
                <a:latin typeface="Times New Roman" panose="02020603050405020304" pitchFamily="18" charset="0"/>
                <a:ea typeface="SimSun" panose="02010600030101010101" pitchFamily="2" charset="-122"/>
              </a:rPr>
            </a:br>
            <a:br>
              <a:rPr lang="es-MX" sz="2400" kern="50" dirty="0">
                <a:effectLst/>
                <a:latin typeface="Times New Roman" panose="02020603050405020304" pitchFamily="18" charset="0"/>
                <a:ea typeface="SimSun" panose="02010600030101010101" pitchFamily="2" charset="-122"/>
              </a:rPr>
            </a:br>
            <a:r>
              <a:rPr lang="es-MX" sz="2400" kern="50" dirty="0">
                <a:effectLst/>
                <a:latin typeface="Times New Roman" panose="02020603050405020304" pitchFamily="18" charset="0"/>
                <a:ea typeface="SimSun" panose="02010600030101010101" pitchFamily="2" charset="-122"/>
              </a:rPr>
              <a:t>* Preparar los datos.</a:t>
            </a:r>
            <a:br>
              <a:rPr lang="es-MX" sz="2400" kern="50" dirty="0">
                <a:effectLst/>
                <a:latin typeface="Times New Roman" panose="02020603050405020304" pitchFamily="18" charset="0"/>
                <a:ea typeface="SimSun" panose="02010600030101010101" pitchFamily="2" charset="-122"/>
              </a:rPr>
            </a:br>
            <a:r>
              <a:rPr lang="es-MX" sz="2400" kern="50" dirty="0">
                <a:effectLst/>
                <a:latin typeface="Times New Roman" panose="02020603050405020304" pitchFamily="18" charset="0"/>
                <a:ea typeface="SimSun" panose="02010600030101010101" pitchFamily="2" charset="-122"/>
              </a:rPr>
              <a:t>*Realizar la función de consultas. </a:t>
            </a:r>
            <a:endParaRPr lang="es-MX" sz="3600" dirty="0"/>
          </a:p>
        </p:txBody>
      </p:sp>
      <p:pic>
        <p:nvPicPr>
          <p:cNvPr id="5122" name="Picture 2" descr="Qué es REALMENTE ChatGPT? (explicación sencilla y entendible)">
            <a:extLst>
              <a:ext uri="{FF2B5EF4-FFF2-40B4-BE49-F238E27FC236}">
                <a16:creationId xmlns:a16="http://schemas.microsoft.com/office/drawing/2014/main" id="{639C2E16-552E-DE4A-D203-5587522A8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01" y="135652"/>
            <a:ext cx="4019341" cy="226087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istral AI: La Startup Europea que Desafía a los Gigantes de la IA – Paula">
            <a:extLst>
              <a:ext uri="{FF2B5EF4-FFF2-40B4-BE49-F238E27FC236}">
                <a16:creationId xmlns:a16="http://schemas.microsoft.com/office/drawing/2014/main" id="{E5526C08-25FA-2C8E-8DCC-6C2AFA1166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611" y="4662825"/>
            <a:ext cx="6219825"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646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59E7F28-E8C9-CCD1-B551-1005AEF99991}"/>
              </a:ext>
            </a:extLst>
          </p:cNvPr>
          <p:cNvSpPr>
            <a:spLocks noGrp="1"/>
          </p:cNvSpPr>
          <p:nvPr>
            <p:ph type="title"/>
          </p:nvPr>
        </p:nvSpPr>
        <p:spPr/>
        <p:txBody>
          <a:bodyPr/>
          <a:lstStyle/>
          <a:p>
            <a:endParaRPr lang="en-US" dirty="0"/>
          </a:p>
        </p:txBody>
      </p:sp>
      <p:pic>
        <p:nvPicPr>
          <p:cNvPr id="6" name="Imagen 5" descr="Texto&#10;&#10;Descripción generada automáticamente">
            <a:extLst>
              <a:ext uri="{FF2B5EF4-FFF2-40B4-BE49-F238E27FC236}">
                <a16:creationId xmlns:a16="http://schemas.microsoft.com/office/drawing/2014/main" id="{1C427B25-FF0E-6DC7-A985-1A80C034B970}"/>
              </a:ext>
            </a:extLst>
          </p:cNvPr>
          <p:cNvPicPr>
            <a:picLocks noChangeAspect="1"/>
          </p:cNvPicPr>
          <p:nvPr/>
        </p:nvPicPr>
        <p:blipFill rotWithShape="1">
          <a:blip r:embed="rId3"/>
          <a:srcRect l="20487" t="32489" r="33791" b="9267"/>
          <a:stretch/>
        </p:blipFill>
        <p:spPr bwMode="auto">
          <a:xfrm>
            <a:off x="854110" y="1091529"/>
            <a:ext cx="7737231" cy="5287732"/>
          </a:xfrm>
          <a:prstGeom prst="rect">
            <a:avLst/>
          </a:prstGeom>
          <a:ln>
            <a:noFill/>
          </a:ln>
          <a:extLst>
            <a:ext uri="{53640926-AAD7-44D8-BBD7-CCE9431645EC}">
              <a14:shadowObscured xmlns:a14="http://schemas.microsoft.com/office/drawing/2010/main"/>
            </a:ext>
          </a:extLst>
        </p:spPr>
      </p:pic>
      <p:sp>
        <p:nvSpPr>
          <p:cNvPr id="7" name="Título 2">
            <a:extLst>
              <a:ext uri="{FF2B5EF4-FFF2-40B4-BE49-F238E27FC236}">
                <a16:creationId xmlns:a16="http://schemas.microsoft.com/office/drawing/2014/main" id="{79AD32FB-AA67-6AC2-2340-57845ABD3C75}"/>
              </a:ext>
            </a:extLst>
          </p:cNvPr>
          <p:cNvSpPr txBox="1">
            <a:spLocks/>
          </p:cNvSpPr>
          <p:nvPr/>
        </p:nvSpPr>
        <p:spPr>
          <a:xfrm>
            <a:off x="964022" y="480666"/>
            <a:ext cx="8880193" cy="610863"/>
          </a:xfrm>
          <a:prstGeom prst="rect">
            <a:avLst/>
          </a:prstGeom>
          <a:ln>
            <a:noFill/>
          </a:ln>
        </p:spPr>
        <p:txBody>
          <a:bodyPr vert="horz" lIns="0" tIns="0" rIns="0" bIns="0" rtlCol="0" anchor="t" anchorCtr="0">
            <a:norm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err="1"/>
              <a:t>Pdfscrapping</a:t>
            </a:r>
            <a:endParaRPr lang="es-MX" dirty="0"/>
          </a:p>
        </p:txBody>
      </p:sp>
    </p:spTree>
    <p:extLst>
      <p:ext uri="{BB962C8B-B14F-4D97-AF65-F5344CB8AC3E}">
        <p14:creationId xmlns:p14="http://schemas.microsoft.com/office/powerpoint/2010/main" val="369771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59E7F28-E8C9-CCD1-B551-1005AEF99991}"/>
              </a:ext>
            </a:extLst>
          </p:cNvPr>
          <p:cNvSpPr>
            <a:spLocks noGrp="1"/>
          </p:cNvSpPr>
          <p:nvPr>
            <p:ph type="title"/>
          </p:nvPr>
        </p:nvSpPr>
        <p:spPr/>
        <p:txBody>
          <a:bodyPr/>
          <a:lstStyle/>
          <a:p>
            <a:endParaRPr lang="en-US" dirty="0"/>
          </a:p>
        </p:txBody>
      </p:sp>
      <p:pic>
        <p:nvPicPr>
          <p:cNvPr id="5" name="Imagen 4" descr="Interfaz de usuario gráfica, Texto, Aplicación, Correo electrónico&#10;&#10;Descripción generada automáticamente">
            <a:extLst>
              <a:ext uri="{FF2B5EF4-FFF2-40B4-BE49-F238E27FC236}">
                <a16:creationId xmlns:a16="http://schemas.microsoft.com/office/drawing/2014/main" id="{0A14787A-B17E-0FBC-C090-A3B8E918AB30}"/>
              </a:ext>
            </a:extLst>
          </p:cNvPr>
          <p:cNvPicPr>
            <a:picLocks noChangeAspect="1"/>
          </p:cNvPicPr>
          <p:nvPr/>
        </p:nvPicPr>
        <p:blipFill rotWithShape="1">
          <a:blip r:embed="rId3"/>
          <a:srcRect l="5779" t="45359" r="51169" b="14548"/>
          <a:stretch/>
        </p:blipFill>
        <p:spPr bwMode="auto">
          <a:xfrm>
            <a:off x="951316" y="1247318"/>
            <a:ext cx="10276662" cy="5133385"/>
          </a:xfrm>
          <a:prstGeom prst="rect">
            <a:avLst/>
          </a:prstGeom>
          <a:ln>
            <a:noFill/>
          </a:ln>
          <a:extLst>
            <a:ext uri="{53640926-AAD7-44D8-BBD7-CCE9431645EC}">
              <a14:shadowObscured xmlns:a14="http://schemas.microsoft.com/office/drawing/2010/main"/>
            </a:ext>
          </a:extLst>
        </p:spPr>
      </p:pic>
      <p:sp>
        <p:nvSpPr>
          <p:cNvPr id="2" name="Título 2">
            <a:extLst>
              <a:ext uri="{FF2B5EF4-FFF2-40B4-BE49-F238E27FC236}">
                <a16:creationId xmlns:a16="http://schemas.microsoft.com/office/drawing/2014/main" id="{6A1717DE-3AEB-29C4-1373-952A1022E912}"/>
              </a:ext>
            </a:extLst>
          </p:cNvPr>
          <p:cNvSpPr txBox="1">
            <a:spLocks/>
          </p:cNvSpPr>
          <p:nvPr/>
        </p:nvSpPr>
        <p:spPr>
          <a:xfrm>
            <a:off x="843442" y="327654"/>
            <a:ext cx="8880193" cy="610863"/>
          </a:xfrm>
          <a:prstGeom prst="rect">
            <a:avLst/>
          </a:prstGeom>
          <a:ln>
            <a:noFill/>
          </a:ln>
        </p:spPr>
        <p:txBody>
          <a:bodyPr vert="horz" lIns="0" tIns="0" rIns="0" bIns="0" rtlCol="0" anchor="t" anchorCtr="0">
            <a:norm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Preparar la consulta</a:t>
            </a:r>
          </a:p>
        </p:txBody>
      </p:sp>
    </p:spTree>
    <p:extLst>
      <p:ext uri="{BB962C8B-B14F-4D97-AF65-F5344CB8AC3E}">
        <p14:creationId xmlns:p14="http://schemas.microsoft.com/office/powerpoint/2010/main" val="335780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59E7F28-E8C9-CCD1-B551-1005AEF99991}"/>
              </a:ext>
            </a:extLst>
          </p:cNvPr>
          <p:cNvSpPr>
            <a:spLocks noGrp="1"/>
          </p:cNvSpPr>
          <p:nvPr>
            <p:ph type="title"/>
          </p:nvPr>
        </p:nvSpPr>
        <p:spPr/>
        <p:txBody>
          <a:bodyPr/>
          <a:lstStyle/>
          <a:p>
            <a:endParaRPr lang="en-US" dirty="0"/>
          </a:p>
        </p:txBody>
      </p:sp>
      <p:sp>
        <p:nvSpPr>
          <p:cNvPr id="2" name="Título 2">
            <a:extLst>
              <a:ext uri="{FF2B5EF4-FFF2-40B4-BE49-F238E27FC236}">
                <a16:creationId xmlns:a16="http://schemas.microsoft.com/office/drawing/2014/main" id="{6A1717DE-3AEB-29C4-1373-952A1022E912}"/>
              </a:ext>
            </a:extLst>
          </p:cNvPr>
          <p:cNvSpPr txBox="1">
            <a:spLocks/>
          </p:cNvSpPr>
          <p:nvPr/>
        </p:nvSpPr>
        <p:spPr>
          <a:xfrm>
            <a:off x="843442" y="327654"/>
            <a:ext cx="8880193" cy="610863"/>
          </a:xfrm>
          <a:prstGeom prst="rect">
            <a:avLst/>
          </a:prstGeom>
          <a:ln>
            <a:noFill/>
          </a:ln>
        </p:spPr>
        <p:txBody>
          <a:bodyPr vert="horz" lIns="0" tIns="0" rIns="0" bIns="0" rtlCol="0" anchor="t" anchorCtr="0">
            <a:norm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Generamos los </a:t>
            </a:r>
            <a:r>
              <a:rPr lang="es-MX" dirty="0" err="1"/>
              <a:t>embeddings</a:t>
            </a:r>
            <a:endParaRPr lang="es-MX" dirty="0"/>
          </a:p>
        </p:txBody>
      </p:sp>
      <p:pic>
        <p:nvPicPr>
          <p:cNvPr id="6" name="Imagen 5">
            <a:extLst>
              <a:ext uri="{FF2B5EF4-FFF2-40B4-BE49-F238E27FC236}">
                <a16:creationId xmlns:a16="http://schemas.microsoft.com/office/drawing/2014/main" id="{62A18A92-AEF5-752F-4265-EF2A131B7CFB}"/>
              </a:ext>
            </a:extLst>
          </p:cNvPr>
          <p:cNvPicPr>
            <a:picLocks noChangeAspect="1"/>
          </p:cNvPicPr>
          <p:nvPr/>
        </p:nvPicPr>
        <p:blipFill rotWithShape="1">
          <a:blip r:embed="rId3"/>
          <a:srcRect l="19698" t="43047" r="31841" b="14262"/>
          <a:stretch/>
        </p:blipFill>
        <p:spPr>
          <a:xfrm>
            <a:off x="391065" y="1091529"/>
            <a:ext cx="9586950" cy="4530524"/>
          </a:xfrm>
          <a:prstGeom prst="rect">
            <a:avLst/>
          </a:prstGeom>
        </p:spPr>
      </p:pic>
    </p:spTree>
    <p:extLst>
      <p:ext uri="{BB962C8B-B14F-4D97-AF65-F5344CB8AC3E}">
        <p14:creationId xmlns:p14="http://schemas.microsoft.com/office/powerpoint/2010/main" val="1465951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59E7F28-E8C9-CCD1-B551-1005AEF99991}"/>
              </a:ext>
            </a:extLst>
          </p:cNvPr>
          <p:cNvSpPr>
            <a:spLocks noGrp="1"/>
          </p:cNvSpPr>
          <p:nvPr>
            <p:ph type="title"/>
          </p:nvPr>
        </p:nvSpPr>
        <p:spPr/>
        <p:txBody>
          <a:bodyPr/>
          <a:lstStyle/>
          <a:p>
            <a:endParaRPr lang="en-US" dirty="0"/>
          </a:p>
        </p:txBody>
      </p:sp>
      <p:sp>
        <p:nvSpPr>
          <p:cNvPr id="2" name="Título 2">
            <a:extLst>
              <a:ext uri="{FF2B5EF4-FFF2-40B4-BE49-F238E27FC236}">
                <a16:creationId xmlns:a16="http://schemas.microsoft.com/office/drawing/2014/main" id="{6A1717DE-3AEB-29C4-1373-952A1022E912}"/>
              </a:ext>
            </a:extLst>
          </p:cNvPr>
          <p:cNvSpPr txBox="1">
            <a:spLocks/>
          </p:cNvSpPr>
          <p:nvPr/>
        </p:nvSpPr>
        <p:spPr>
          <a:xfrm>
            <a:off x="843442" y="327654"/>
            <a:ext cx="8880193" cy="610863"/>
          </a:xfrm>
          <a:prstGeom prst="rect">
            <a:avLst/>
          </a:prstGeom>
          <a:ln>
            <a:noFill/>
          </a:ln>
        </p:spPr>
        <p:txBody>
          <a:bodyPr vert="horz" lIns="0" tIns="0" rIns="0" bIns="0" rtlCol="0" anchor="t" anchorCtr="0">
            <a:norm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Vemos la respuesta</a:t>
            </a:r>
          </a:p>
        </p:txBody>
      </p:sp>
      <p:pic>
        <p:nvPicPr>
          <p:cNvPr id="5" name="Imagen 4">
            <a:extLst>
              <a:ext uri="{FF2B5EF4-FFF2-40B4-BE49-F238E27FC236}">
                <a16:creationId xmlns:a16="http://schemas.microsoft.com/office/drawing/2014/main" id="{C5F2E87C-4B26-E58C-BA47-61BFF5E7ECB6}"/>
              </a:ext>
            </a:extLst>
          </p:cNvPr>
          <p:cNvPicPr>
            <a:picLocks noChangeAspect="1"/>
          </p:cNvPicPr>
          <p:nvPr/>
        </p:nvPicPr>
        <p:blipFill rotWithShape="1">
          <a:blip r:embed="rId3"/>
          <a:srcRect l="19863" t="66554" r="1594" b="2582"/>
          <a:stretch/>
        </p:blipFill>
        <p:spPr>
          <a:xfrm>
            <a:off x="602903" y="1195754"/>
            <a:ext cx="9576078" cy="2018636"/>
          </a:xfrm>
          <a:prstGeom prst="rect">
            <a:avLst/>
          </a:prstGeom>
        </p:spPr>
      </p:pic>
      <p:pic>
        <p:nvPicPr>
          <p:cNvPr id="8" name="Imagen 7">
            <a:extLst>
              <a:ext uri="{FF2B5EF4-FFF2-40B4-BE49-F238E27FC236}">
                <a16:creationId xmlns:a16="http://schemas.microsoft.com/office/drawing/2014/main" id="{B8E44064-FE49-FDDC-E96F-0227023F542A}"/>
              </a:ext>
            </a:extLst>
          </p:cNvPr>
          <p:cNvPicPr>
            <a:picLocks noChangeAspect="1"/>
          </p:cNvPicPr>
          <p:nvPr/>
        </p:nvPicPr>
        <p:blipFill rotWithShape="1">
          <a:blip r:embed="rId4"/>
          <a:srcRect l="20246" t="23230" b="28837"/>
          <a:stretch/>
        </p:blipFill>
        <p:spPr>
          <a:xfrm>
            <a:off x="602903" y="3395261"/>
            <a:ext cx="9723635" cy="3135085"/>
          </a:xfrm>
          <a:prstGeom prst="rect">
            <a:avLst/>
          </a:prstGeom>
        </p:spPr>
      </p:pic>
    </p:spTree>
    <p:extLst>
      <p:ext uri="{BB962C8B-B14F-4D97-AF65-F5344CB8AC3E}">
        <p14:creationId xmlns:p14="http://schemas.microsoft.com/office/powerpoint/2010/main" val="2123863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59E7F28-E8C9-CCD1-B551-1005AEF99991}"/>
              </a:ext>
            </a:extLst>
          </p:cNvPr>
          <p:cNvSpPr>
            <a:spLocks noGrp="1"/>
          </p:cNvSpPr>
          <p:nvPr>
            <p:ph type="title"/>
          </p:nvPr>
        </p:nvSpPr>
        <p:spPr/>
        <p:txBody>
          <a:bodyPr/>
          <a:lstStyle/>
          <a:p>
            <a:endParaRPr lang="en-US" dirty="0"/>
          </a:p>
        </p:txBody>
      </p:sp>
      <p:graphicFrame>
        <p:nvGraphicFramePr>
          <p:cNvPr id="2" name="Gráfico 1">
            <a:extLst>
              <a:ext uri="{FF2B5EF4-FFF2-40B4-BE49-F238E27FC236}">
                <a16:creationId xmlns:a16="http://schemas.microsoft.com/office/drawing/2014/main" id="{A83ED6C0-8AAC-C362-E267-90D09DAF9990}"/>
              </a:ext>
            </a:extLst>
          </p:cNvPr>
          <p:cNvGraphicFramePr/>
          <p:nvPr>
            <p:extLst>
              <p:ext uri="{D42A27DB-BD31-4B8C-83A1-F6EECF244321}">
                <p14:modId xmlns:p14="http://schemas.microsoft.com/office/powerpoint/2010/main" val="2000596836"/>
              </p:ext>
            </p:extLst>
          </p:nvPr>
        </p:nvGraphicFramePr>
        <p:xfrm>
          <a:off x="964022" y="1185705"/>
          <a:ext cx="8863266" cy="4580765"/>
        </p:xfrm>
        <a:graphic>
          <a:graphicData uri="http://schemas.openxmlformats.org/drawingml/2006/chart">
            <c:chart xmlns:c="http://schemas.openxmlformats.org/drawingml/2006/chart" xmlns:r="http://schemas.openxmlformats.org/officeDocument/2006/relationships" r:id="rId3"/>
          </a:graphicData>
        </a:graphic>
      </p:graphicFrame>
      <p:sp>
        <p:nvSpPr>
          <p:cNvPr id="3" name="Título 2">
            <a:extLst>
              <a:ext uri="{FF2B5EF4-FFF2-40B4-BE49-F238E27FC236}">
                <a16:creationId xmlns:a16="http://schemas.microsoft.com/office/drawing/2014/main" id="{33248C0C-3723-C008-30F6-203CD24B3F1B}"/>
              </a:ext>
            </a:extLst>
          </p:cNvPr>
          <p:cNvSpPr txBox="1">
            <a:spLocks/>
          </p:cNvSpPr>
          <p:nvPr/>
        </p:nvSpPr>
        <p:spPr>
          <a:xfrm>
            <a:off x="843442" y="327654"/>
            <a:ext cx="8880193" cy="610863"/>
          </a:xfrm>
          <a:prstGeom prst="rect">
            <a:avLst/>
          </a:prstGeom>
          <a:ln>
            <a:noFill/>
          </a:ln>
        </p:spPr>
        <p:txBody>
          <a:bodyPr vert="horz" lIns="0" tIns="0" rIns="0" bIns="0" rtlCol="0" anchor="t" anchorCtr="0">
            <a:norm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dirty="0"/>
              <a:t>Comparamos resultados</a:t>
            </a:r>
          </a:p>
        </p:txBody>
      </p:sp>
    </p:spTree>
    <p:extLst>
      <p:ext uri="{BB962C8B-B14F-4D97-AF65-F5344CB8AC3E}">
        <p14:creationId xmlns:p14="http://schemas.microsoft.com/office/powerpoint/2010/main" val="3337234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F3D98-3C30-4CFC-8643-C81E829C8C25}"/>
              </a:ext>
            </a:extLst>
          </p:cNvPr>
          <p:cNvSpPr>
            <a:spLocks noGrp="1"/>
          </p:cNvSpPr>
          <p:nvPr>
            <p:ph type="title"/>
          </p:nvPr>
        </p:nvSpPr>
        <p:spPr/>
        <p:txBody>
          <a:bodyPr rtlCol="0"/>
          <a:lstStyle/>
          <a:p>
            <a:pPr rtl="0"/>
            <a:r>
              <a:rPr lang="es-MX" dirty="0"/>
              <a:t>Gracias</a:t>
            </a:r>
          </a:p>
        </p:txBody>
      </p:sp>
      <p:sp>
        <p:nvSpPr>
          <p:cNvPr id="11" name="Subtítulo 10">
            <a:extLst>
              <a:ext uri="{FF2B5EF4-FFF2-40B4-BE49-F238E27FC236}">
                <a16:creationId xmlns:a16="http://schemas.microsoft.com/office/drawing/2014/main" id="{F0F25866-5DB1-334A-8037-692579FBDE39}"/>
              </a:ext>
            </a:extLst>
          </p:cNvPr>
          <p:cNvSpPr>
            <a:spLocks noGrp="1"/>
          </p:cNvSpPr>
          <p:nvPr>
            <p:ph type="subTitle" idx="1"/>
          </p:nvPr>
        </p:nvSpPr>
        <p:spPr>
          <a:xfrm>
            <a:off x="6907623" y="3591098"/>
            <a:ext cx="4527401" cy="3111153"/>
          </a:xfrm>
        </p:spPr>
        <p:txBody>
          <a:bodyPr rtlCol="0">
            <a:normAutofit/>
          </a:bodyPr>
          <a:lstStyle/>
          <a:p>
            <a:pPr rtl="0"/>
            <a:r>
              <a:rPr lang="es-MX" dirty="0"/>
              <a:t>Mis redes</a:t>
            </a:r>
          </a:p>
          <a:p>
            <a:pPr rtl="0"/>
            <a:endParaRPr lang="es-MX" dirty="0"/>
          </a:p>
          <a:p>
            <a:pPr marL="285750" indent="-285750" rtl="0">
              <a:buFont typeface="Arial" panose="020B0604020202020204" pitchFamily="34" charset="0"/>
              <a:buChar char="•"/>
            </a:pPr>
            <a:r>
              <a:rPr lang="es-MX" dirty="0">
                <a:latin typeface="+mj-lt"/>
                <a:hlinkClick r:id="rId3"/>
              </a:rPr>
              <a:t>https://github.com/IvanParedesR</a:t>
            </a:r>
            <a:endParaRPr lang="es-MX" dirty="0">
              <a:latin typeface="+mj-lt"/>
            </a:endParaRPr>
          </a:p>
          <a:p>
            <a:pPr marL="285750" indent="-285750" rtl="0">
              <a:buFont typeface="Arial" panose="020B0604020202020204" pitchFamily="34" charset="0"/>
              <a:buChar char="•"/>
            </a:pPr>
            <a:endParaRPr lang="es-MX" dirty="0">
              <a:latin typeface="+mj-lt"/>
            </a:endParaRPr>
          </a:p>
          <a:p>
            <a:pPr marL="285750" indent="-285750" rtl="0">
              <a:buFont typeface="Arial" panose="020B0604020202020204" pitchFamily="34" charset="0"/>
              <a:buChar char="•"/>
            </a:pPr>
            <a:r>
              <a:rPr lang="es-MX" dirty="0">
                <a:latin typeface="+mj-lt"/>
                <a:hlinkClick r:id="rId4"/>
              </a:rPr>
              <a:t>https://www.linkedin.com/in/ivanparedesr87/</a:t>
            </a:r>
            <a:endParaRPr lang="es-MX" dirty="0">
              <a:latin typeface="+mj-lt"/>
            </a:endParaRPr>
          </a:p>
          <a:p>
            <a:pPr marL="285750" indent="-285750" rtl="0">
              <a:buFont typeface="Arial" panose="020B0604020202020204" pitchFamily="34" charset="0"/>
              <a:buChar char="•"/>
            </a:pPr>
            <a:endParaRPr lang="es-MX" dirty="0">
              <a:latin typeface="+mj-lt"/>
            </a:endParaRPr>
          </a:p>
          <a:p>
            <a:pPr marL="285750" indent="-285750" rtl="0">
              <a:buFont typeface="Arial" panose="020B0604020202020204" pitchFamily="34" charset="0"/>
              <a:buChar char="•"/>
            </a:pPr>
            <a:r>
              <a:rPr lang="es-MX" i="0" dirty="0">
                <a:solidFill>
                  <a:srgbClr val="0F1419"/>
                </a:solidFill>
                <a:effectLst/>
                <a:highlight>
                  <a:srgbClr val="FFFFFF"/>
                </a:highlight>
                <a:latin typeface="+mj-lt"/>
                <a:hlinkClick r:id="rId5"/>
              </a:rPr>
              <a:t>https://x.com/Ivan_presendiz</a:t>
            </a:r>
            <a:r>
              <a:rPr lang="es-MX" i="0" dirty="0">
                <a:solidFill>
                  <a:srgbClr val="0F1419"/>
                </a:solidFill>
                <a:effectLst/>
                <a:highlight>
                  <a:srgbClr val="FFFFFF"/>
                </a:highlight>
                <a:latin typeface="+mj-lt"/>
              </a:rPr>
              <a:t> </a:t>
            </a:r>
            <a:endParaRPr lang="es-MX" dirty="0">
              <a:latin typeface="+mj-lt"/>
            </a:endParaRPr>
          </a:p>
        </p:txBody>
      </p:sp>
      <p:pic>
        <p:nvPicPr>
          <p:cNvPr id="13" name="Marcador de posición de imagen 12" descr="Retrato de un miembro del equipo">
            <a:extLst>
              <a:ext uri="{FF2B5EF4-FFF2-40B4-BE49-F238E27FC236}">
                <a16:creationId xmlns:a16="http://schemas.microsoft.com/office/drawing/2014/main" id="{EC944911-7CDD-41CC-A7F0-5B0CF85D545C}"/>
              </a:ext>
              <a:ext uri="{C183D7F6-B498-43B3-948B-1728B52AA6E4}">
                <adec:decorative xmlns:adec="http://schemas.microsoft.com/office/drawing/2017/decorative" val="0"/>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336677316"/>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{A42D1460-741C-4EF2-9675-4FFA4343082B}tf78853419_win32</Template>
  <TotalTime>680</TotalTime>
  <Words>475</Words>
  <Application>Microsoft Office PowerPoint</Application>
  <PresentationFormat>Panorámica</PresentationFormat>
  <Paragraphs>131</Paragraphs>
  <Slides>17</Slides>
  <Notes>17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17</vt:i4>
      </vt:variant>
    </vt:vector>
  </HeadingPairs>
  <TitlesOfParts>
    <vt:vector size="24" baseType="lpstr">
      <vt:lpstr>Arial</vt:lpstr>
      <vt:lpstr>Calibri</vt:lpstr>
      <vt:lpstr>Franklin Gothic Book</vt:lpstr>
      <vt:lpstr>Franklin Gothic Demi</vt:lpstr>
      <vt:lpstr>Times New Roman</vt:lpstr>
      <vt:lpstr>Wingdings</vt:lpstr>
      <vt:lpstr>Tema1</vt:lpstr>
      <vt:lpstr>Uso de AI en el análisis de información</vt:lpstr>
      <vt:lpstr>Agenda</vt:lpstr>
      <vt:lpstr>Dilemas</vt:lpstr>
      <vt:lpstr>Temas técnicos</vt:lpstr>
      <vt:lpstr>¿AI = LLM?</vt:lpstr>
      <vt:lpstr>¿LLM = Inteligencia artificial?</vt:lpstr>
      <vt:lpstr>¿LLM = Inteligencia artificial?</vt:lpstr>
      <vt:lpstr>Modelos 2022- (Jun) 2024 </vt:lpstr>
      <vt:lpstr>A pesar de sus beneficios, los LLMs presentan varias limitaciones importantes. Uno de los desafíos principales es su dependencia de los datos con los que fueron entrenados. Si los datos están desactualizados o contienen sesgos o errores, los modelos no se actualizan y pueden perpetuar y amplificar dichos sesgos.      </vt:lpstr>
      <vt:lpstr>Caso aplicado</vt:lpstr>
      <vt:lpstr>A partir de 10 artículos se buscará analizar la guerra de Rusia- Ucrania con AI.  * Preparar los datos. *Realizar la función de consultas. </vt:lpstr>
      <vt:lpstr>Presentación de PowerPoint</vt:lpstr>
      <vt:lpstr>Presentación de PowerPoint</vt:lpstr>
      <vt:lpstr>Presentación de PowerPoint</vt:lpstr>
      <vt:lpstr>Presentación de PowerPoint</vt:lpstr>
      <vt:lpstr>Presentación de PowerPoint</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Iván Paredes Reséndiz</dc:creator>
  <cp:lastModifiedBy>Iván Paredes Reséndiz</cp:lastModifiedBy>
  <cp:revision>3</cp:revision>
  <dcterms:created xsi:type="dcterms:W3CDTF">2024-09-27T03:01:38Z</dcterms:created>
  <dcterms:modified xsi:type="dcterms:W3CDTF">2024-09-27T14:22:02Z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